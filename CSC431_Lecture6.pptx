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99" r:id="rId3"/>
    <p:sldId id="265" r:id="rId4"/>
    <p:sldId id="300" r:id="rId5"/>
    <p:sldId id="374" r:id="rId6"/>
    <p:sldId id="301" r:id="rId7"/>
    <p:sldId id="302" r:id="rId8"/>
    <p:sldId id="303" r:id="rId9"/>
    <p:sldId id="304" r:id="rId10"/>
    <p:sldId id="305" r:id="rId11"/>
    <p:sldId id="352" r:id="rId12"/>
    <p:sldId id="353" r:id="rId13"/>
    <p:sldId id="354" r:id="rId14"/>
    <p:sldId id="357" r:id="rId15"/>
    <p:sldId id="355" r:id="rId16"/>
    <p:sldId id="356" r:id="rId17"/>
    <p:sldId id="359" r:id="rId18"/>
    <p:sldId id="361" r:id="rId19"/>
    <p:sldId id="360" r:id="rId20"/>
    <p:sldId id="362" r:id="rId21"/>
    <p:sldId id="363" r:id="rId22"/>
    <p:sldId id="364" r:id="rId23"/>
    <p:sldId id="365" r:id="rId24"/>
    <p:sldId id="366" r:id="rId25"/>
    <p:sldId id="367" r:id="rId26"/>
    <p:sldId id="368" r:id="rId27"/>
    <p:sldId id="369" r:id="rId28"/>
    <p:sldId id="370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E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55"/>
    <p:restoredTop sz="91532"/>
  </p:normalViewPr>
  <p:slideViewPr>
    <p:cSldViewPr snapToGrid="0" snapToObjects="1">
      <p:cViewPr varScale="1">
        <p:scale>
          <a:sx n="75" d="100"/>
          <a:sy n="75" d="100"/>
        </p:scale>
        <p:origin x="122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D60-F1BC-C941-B244-B5AFDAAAC8CF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AAA4F-50A0-5E4F-A9B6-04ABCBD7F7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52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066800"/>
          </a:xfrm>
          <a:prstGeom prst="rect">
            <a:avLst/>
          </a:prstGeom>
          <a:gradFill>
            <a:gsLst>
              <a:gs pos="0">
                <a:srgbClr val="E0E0E0"/>
              </a:gs>
              <a:gs pos="50000">
                <a:srgbClr val="E0E0E0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D60-F1BC-C941-B244-B5AFDAAAC8CF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AAA4F-50A0-5E4F-A9B6-04ABCBD7F7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4" descr="http://1.bp.blogspot.com/-KxuoqfR4onw/UcMJPQgMTDI/AAAAAAAAnaU/733PCpWFLWk/s1600/android-robot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-11289" y="78253"/>
            <a:ext cx="468489" cy="10647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12771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D60-F1BC-C941-B244-B5AFDAAAC8CF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AAA4F-50A0-5E4F-A9B6-04ABCBD7F7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89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D60-F1BC-C941-B244-B5AFDAAAC8CF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AAA4F-50A0-5E4F-A9B6-04ABCBD7F7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5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D60-F1BC-C941-B244-B5AFDAAAC8CF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AAA4F-50A0-5E4F-A9B6-04ABCBD7F7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467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D60-F1BC-C941-B244-B5AFDAAAC8CF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AAA4F-50A0-5E4F-A9B6-04ABCBD7F7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248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D60-F1BC-C941-B244-B5AFDAAAC8CF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AAA4F-50A0-5E4F-A9B6-04ABCBD7F7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02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D60-F1BC-C941-B244-B5AFDAAAC8CF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AAA4F-50A0-5E4F-A9B6-04ABCBD7F7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10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D60-F1BC-C941-B244-B5AFDAAAC8CF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AAA4F-50A0-5E4F-A9B6-04ABCBD7F7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29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D60-F1BC-C941-B244-B5AFDAAAC8CF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AAA4F-50A0-5E4F-A9B6-04ABCBD7F7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88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D60-F1BC-C941-B244-B5AFDAAAC8CF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AAA4F-50A0-5E4F-A9B6-04ABCBD7F7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92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6975" y="945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04D60-F1BC-C941-B244-B5AFDAAAC8CF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AAA4F-50A0-5E4F-A9B6-04ABCBD7F7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30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reference/android/content/SharedPreferences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http://1.bp.blogspot.com/-KxuoqfR4onw/UcMJPQgMTDI/AAAAAAAAnaU/733PCpWFLWk/s1600/android-robo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0" y="571500"/>
            <a:ext cx="1676400" cy="3810000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-15678" y="6555400"/>
            <a:ext cx="4124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/>
                <a:cs typeface="Arial"/>
              </a:rPr>
              <a:t>CSC 431 – Mobile Application development</a:t>
            </a:r>
          </a:p>
        </p:txBody>
      </p:sp>
      <p:pic>
        <p:nvPicPr>
          <p:cNvPr id="14" name="Picture 13" descr="lecture6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429" y="1778407"/>
            <a:ext cx="4853531" cy="43391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22E8B8-B989-4D95-944A-57C1054B325B}"/>
              </a:ext>
            </a:extLst>
          </p:cNvPr>
          <p:cNvSpPr txBox="1"/>
          <p:nvPr/>
        </p:nvSpPr>
        <p:spPr>
          <a:xfrm>
            <a:off x="1883040" y="1088072"/>
            <a:ext cx="5693229" cy="138067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D07F89-F32B-43C4-8214-46A70C06B7AA}"/>
              </a:ext>
            </a:extLst>
          </p:cNvPr>
          <p:cNvSpPr txBox="1"/>
          <p:nvPr/>
        </p:nvSpPr>
        <p:spPr>
          <a:xfrm>
            <a:off x="2129701" y="1998602"/>
            <a:ext cx="295101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>
                <a:latin typeface="Arial" charset="0"/>
                <a:ea typeface="Arial" charset="0"/>
                <a:cs typeface="Arial" charset="0"/>
              </a:rPr>
              <a:t>Lecture 6</a:t>
            </a:r>
            <a:endParaRPr lang="en-US" sz="28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715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69874" y="1423591"/>
            <a:ext cx="868362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dirty="0"/>
              <a:t>Most Android apps need to save data, even if only to save information about the app state during </a:t>
            </a:r>
            <a:r>
              <a:rPr lang="en-US" sz="2400" dirty="0" err="1">
                <a:latin typeface="Courier New"/>
                <a:cs typeface="Courier New"/>
              </a:rPr>
              <a:t>onPause</a:t>
            </a:r>
            <a:r>
              <a:rPr lang="en-US" sz="2400" dirty="0">
                <a:latin typeface="Courier New"/>
                <a:cs typeface="Courier New"/>
              </a:rPr>
              <a:t>()</a:t>
            </a:r>
            <a:r>
              <a:rPr lang="en-US" sz="2800" dirty="0"/>
              <a:t> so the user's progress is not lost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Most non-trivial apps also need to save user settings, and some apps must manage large amounts of information in files and databases</a:t>
            </a:r>
          </a:p>
          <a:p>
            <a:pPr marL="285750" indent="-285750">
              <a:buFont typeface="Arial"/>
              <a:buChar char="•"/>
            </a:pPr>
            <a:endParaRPr lang="en-US" sz="2800" dirty="0"/>
          </a:p>
          <a:p>
            <a:r>
              <a:rPr lang="en-US" sz="2800" dirty="0">
                <a:solidFill>
                  <a:schemeClr val="accent1"/>
                </a:solidFill>
              </a:rPr>
              <a:t>This can be done using: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Saving key-value pairs of simple data types in a shared preferences file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Saving arbitrary files in Android's file system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Using databases managed by SQLite or MySQL</a:t>
            </a:r>
          </a:p>
        </p:txBody>
      </p:sp>
    </p:spTree>
    <p:extLst>
      <p:ext uri="{BB962C8B-B14F-4D97-AF65-F5344CB8AC3E}">
        <p14:creationId xmlns:p14="http://schemas.microsoft.com/office/powerpoint/2010/main" val="136461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>
            <a:spLocks noChangeAspect="1"/>
          </p:cNvSpPr>
          <p:nvPr/>
        </p:nvSpPr>
        <p:spPr>
          <a:xfrm>
            <a:off x="61952" y="2049735"/>
            <a:ext cx="1828800" cy="1828800"/>
          </a:xfrm>
          <a:prstGeom prst="ellipse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2525" y="2115440"/>
            <a:ext cx="70995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Corbel" pitchFamily="34" charset="0"/>
              </a:rPr>
              <a:t>Saving key-value sets using </a:t>
            </a:r>
            <a:r>
              <a:rPr lang="en-US" sz="4800" dirty="0" err="1">
                <a:solidFill>
                  <a:srgbClr val="3366FF"/>
                </a:solidFill>
                <a:latin typeface="Courier"/>
                <a:cs typeface="Courier"/>
              </a:rPr>
              <a:t>sharedPreferences</a:t>
            </a:r>
            <a:endParaRPr lang="en-US" sz="4800" dirty="0">
              <a:solidFill>
                <a:srgbClr val="3366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265978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urier"/>
                <a:cs typeface="Courier"/>
              </a:rPr>
              <a:t>SharedPreferences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2250" y="1453714"/>
            <a:ext cx="866775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/>
              <a:t>If you have a relatively small collection of key-values that you'd like to save, you should use the </a:t>
            </a:r>
            <a:r>
              <a:rPr lang="en-US" sz="2400" dirty="0" err="1">
                <a:solidFill>
                  <a:srgbClr val="3366FF"/>
                </a:solidFill>
                <a:latin typeface="Courier"/>
                <a:cs typeface="Courier"/>
              </a:rPr>
              <a:t>SharedPreferences</a:t>
            </a:r>
            <a:r>
              <a:rPr lang="en-US" sz="2400" dirty="0">
                <a:solidFill>
                  <a:srgbClr val="3366FF"/>
                </a:solidFill>
              </a:rPr>
              <a:t> </a:t>
            </a:r>
            <a:r>
              <a:rPr lang="en-US" sz="2400" dirty="0"/>
              <a:t>APIs. </a:t>
            </a:r>
          </a:p>
          <a:p>
            <a:pPr marL="285750" indent="-285750">
              <a:buFont typeface="Arial"/>
              <a:buChar char="•"/>
            </a:pP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A </a:t>
            </a:r>
            <a:r>
              <a:rPr lang="en-US" sz="2400" dirty="0" err="1">
                <a:solidFill>
                  <a:srgbClr val="3366FF"/>
                </a:solidFill>
                <a:latin typeface="Courier"/>
                <a:cs typeface="Courier"/>
              </a:rPr>
              <a:t>SharedPreferences</a:t>
            </a:r>
            <a:r>
              <a:rPr lang="en-US" sz="2400" dirty="0">
                <a:solidFill>
                  <a:srgbClr val="3366FF"/>
                </a:solidFill>
              </a:rPr>
              <a:t> </a:t>
            </a:r>
            <a:r>
              <a:rPr lang="en-US" sz="2400" dirty="0"/>
              <a:t>object points to a file containing key-value pairs and provides simple methods to read and write them. </a:t>
            </a:r>
          </a:p>
          <a:p>
            <a:pPr marL="285750" indent="-285750">
              <a:buFont typeface="Arial"/>
              <a:buChar char="•"/>
            </a:pP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Each </a:t>
            </a:r>
            <a:r>
              <a:rPr lang="en-US" sz="2400" dirty="0" err="1">
                <a:solidFill>
                  <a:srgbClr val="3366FF"/>
                </a:solidFill>
                <a:latin typeface="Courier"/>
                <a:cs typeface="Courier"/>
              </a:rPr>
              <a:t>SharedPreferences</a:t>
            </a:r>
            <a:r>
              <a:rPr lang="en-US" sz="2400" dirty="0">
                <a:solidFill>
                  <a:srgbClr val="3366FF"/>
                </a:solidFill>
              </a:rPr>
              <a:t> </a:t>
            </a:r>
            <a:r>
              <a:rPr lang="en-US" sz="2400" dirty="0"/>
              <a:t>file is managed by the framework and can be private or shared.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32375"/>
            <a:ext cx="9144000" cy="1825625"/>
          </a:xfrm>
          <a:prstGeom prst="rect">
            <a:avLst/>
          </a:prstGeom>
          <a:solidFill>
            <a:srgbClr val="FFDE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>
                <a:solidFill>
                  <a:schemeClr val="tx1"/>
                </a:solidFill>
              </a:rPr>
              <a:t>Note: The </a:t>
            </a:r>
            <a:r>
              <a:rPr lang="en-US" sz="2000" b="1" dirty="0" err="1">
                <a:solidFill>
                  <a:schemeClr val="tx1"/>
                </a:solidFill>
                <a:latin typeface="Courier"/>
                <a:cs typeface="Courier"/>
              </a:rPr>
              <a:t>SharedPreferences</a:t>
            </a:r>
            <a:r>
              <a:rPr lang="en-US" sz="2000" dirty="0">
                <a:solidFill>
                  <a:schemeClr val="tx1"/>
                </a:solidFill>
              </a:rPr>
              <a:t> APIs are only for reading and writing key-value pairs and you should not confuse them with the </a:t>
            </a:r>
            <a:r>
              <a:rPr lang="en-US" sz="2000" b="1" dirty="0">
                <a:solidFill>
                  <a:schemeClr val="tx1"/>
                </a:solidFill>
                <a:latin typeface="Courier"/>
                <a:cs typeface="Courier"/>
              </a:rPr>
              <a:t>Preference</a:t>
            </a:r>
            <a:r>
              <a:rPr lang="en-US" sz="2000" dirty="0">
                <a:solidFill>
                  <a:schemeClr val="tx1"/>
                </a:solidFill>
              </a:rPr>
              <a:t> APIs, which help you build a user interface for your app settings (although they use </a:t>
            </a:r>
            <a:r>
              <a:rPr lang="en-US" sz="2000" b="1" dirty="0" err="1">
                <a:solidFill>
                  <a:schemeClr val="tx1"/>
                </a:solidFill>
                <a:latin typeface="Courier"/>
                <a:cs typeface="Courier"/>
              </a:rPr>
              <a:t>SharedPreferences</a:t>
            </a:r>
            <a:r>
              <a:rPr lang="en-US" sz="2000" dirty="0">
                <a:solidFill>
                  <a:schemeClr val="tx1"/>
                </a:solidFill>
              </a:rPr>
              <a:t> as their implementation to save the app settings).</a:t>
            </a:r>
          </a:p>
        </p:txBody>
      </p:sp>
      <p:sp>
        <p:nvSpPr>
          <p:cNvPr id="6" name="Oval 5"/>
          <p:cNvSpPr>
            <a:spLocks noChangeAspect="1"/>
          </p:cNvSpPr>
          <p:nvPr/>
        </p:nvSpPr>
        <p:spPr>
          <a:xfrm>
            <a:off x="69775" y="4718050"/>
            <a:ext cx="667512" cy="66751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Courier"/>
                <a:cs typeface="Courier"/>
              </a:rPr>
              <a:t>i</a:t>
            </a:r>
            <a:endParaRPr lang="en-US" sz="2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817307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sharedPreferences</a:t>
            </a:r>
            <a:r>
              <a:rPr lang="en-US" dirty="0"/>
              <a:t> (example)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637701"/>
              </p:ext>
            </p:extLst>
          </p:nvPr>
        </p:nvGraphicFramePr>
        <p:xfrm>
          <a:off x="1593775" y="2125662"/>
          <a:ext cx="6096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2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06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highscore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06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highquality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06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loggedin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06">
                <a:tc grid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06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813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and accessing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50" y="1409700"/>
            <a:ext cx="9099550" cy="4525963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You can create a new shared preference file or access an existing one by calling one of two methods:</a:t>
            </a:r>
          </a:p>
        </p:txBody>
      </p:sp>
      <p:sp>
        <p:nvSpPr>
          <p:cNvPr id="4" name="Rectangle 3"/>
          <p:cNvSpPr/>
          <p:nvPr/>
        </p:nvSpPr>
        <p:spPr>
          <a:xfrm>
            <a:off x="425450" y="3270418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 err="1">
                <a:latin typeface="Courier"/>
                <a:cs typeface="Courier"/>
              </a:rPr>
              <a:t>get</a:t>
            </a:r>
            <a:r>
              <a:rPr lang="en-US" sz="2400" b="1" i="1" dirty="0" err="1">
                <a:solidFill>
                  <a:srgbClr val="FF0000"/>
                </a:solidFill>
                <a:latin typeface="Courier"/>
                <a:cs typeface="Courier"/>
              </a:rPr>
              <a:t>Shared</a:t>
            </a:r>
            <a:r>
              <a:rPr lang="en-US" sz="2400" b="1" dirty="0" err="1">
                <a:latin typeface="Courier"/>
                <a:cs typeface="Courier"/>
              </a:rPr>
              <a:t>Preferences</a:t>
            </a:r>
            <a:r>
              <a:rPr lang="en-US" sz="2400" b="1" dirty="0">
                <a:latin typeface="Courier"/>
                <a:cs typeface="Courier"/>
              </a:rPr>
              <a:t>()  </a:t>
            </a:r>
          </a:p>
        </p:txBody>
      </p:sp>
      <p:sp>
        <p:nvSpPr>
          <p:cNvPr id="5" name="Rectangle 4"/>
          <p:cNvSpPr/>
          <p:nvPr/>
        </p:nvSpPr>
        <p:spPr>
          <a:xfrm>
            <a:off x="526975" y="4992211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 err="1">
                <a:latin typeface="Courier"/>
                <a:cs typeface="Courier"/>
              </a:rPr>
              <a:t>getPreferences</a:t>
            </a:r>
            <a:r>
              <a:rPr lang="en-US" sz="2800" b="1" dirty="0">
                <a:latin typeface="Courier"/>
                <a:cs typeface="Courier"/>
              </a:rPr>
              <a:t>()  </a:t>
            </a:r>
          </a:p>
        </p:txBody>
      </p:sp>
      <p:sp>
        <p:nvSpPr>
          <p:cNvPr id="6" name="Rectangular Callout 5"/>
          <p:cNvSpPr/>
          <p:nvPr/>
        </p:nvSpPr>
        <p:spPr>
          <a:xfrm>
            <a:off x="4873624" y="3150711"/>
            <a:ext cx="4270375" cy="1659414"/>
          </a:xfrm>
          <a:prstGeom prst="wedgeRectCallout">
            <a:avLst>
              <a:gd name="adj1" fmla="val -55245"/>
              <a:gd name="adj2" fmla="val -2647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DE05"/>
                </a:solidFill>
              </a:rPr>
              <a:t>Use this if you need multiple shared preference files identified by name, which you specify with the first parameter. You can call this from any Context in your app.</a:t>
            </a:r>
          </a:p>
        </p:txBody>
      </p:sp>
      <p:sp>
        <p:nvSpPr>
          <p:cNvPr id="7" name="Rectangular Callout 6"/>
          <p:cNvSpPr/>
          <p:nvPr/>
        </p:nvSpPr>
        <p:spPr>
          <a:xfrm>
            <a:off x="4873625" y="4992211"/>
            <a:ext cx="4270375" cy="1659414"/>
          </a:xfrm>
          <a:prstGeom prst="wedgeRectCallout">
            <a:avLst>
              <a:gd name="adj1" fmla="val -55245"/>
              <a:gd name="adj2" fmla="val -2647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DE05"/>
                </a:solidFill>
              </a:rPr>
              <a:t>Use this from an Activity if you need to use </a:t>
            </a:r>
            <a:r>
              <a:rPr lang="en-US" b="1" u="sng" dirty="0">
                <a:solidFill>
                  <a:srgbClr val="FFDE05"/>
                </a:solidFill>
              </a:rPr>
              <a:t>only one</a:t>
            </a:r>
            <a:r>
              <a:rPr lang="en-US" dirty="0">
                <a:solidFill>
                  <a:srgbClr val="FFDE05"/>
                </a:solidFill>
              </a:rPr>
              <a:t> shared preference file for the activity. Because this retrieves a default shared preference file that belongs to the activity, you </a:t>
            </a:r>
            <a:r>
              <a:rPr lang="en-US" u="sng" dirty="0">
                <a:solidFill>
                  <a:srgbClr val="FFDE05"/>
                </a:solidFill>
              </a:rPr>
              <a:t>don't</a:t>
            </a:r>
            <a:r>
              <a:rPr lang="en-US" dirty="0">
                <a:solidFill>
                  <a:srgbClr val="FFDE05"/>
                </a:solidFill>
              </a:rPr>
              <a:t> need to supply a name.</a:t>
            </a:r>
          </a:p>
        </p:txBody>
      </p:sp>
    </p:spTree>
    <p:extLst>
      <p:ext uri="{BB962C8B-B14F-4D97-AF65-F5344CB8AC3E}">
        <p14:creationId xmlns:p14="http://schemas.microsoft.com/office/powerpoint/2010/main" val="3848188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068859"/>
            <a:ext cx="91439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520053"/>
                </a:solidFill>
                <a:latin typeface="Courier"/>
              </a:rPr>
              <a:t>SharedPreferences</a:t>
            </a:r>
            <a:r>
              <a:rPr lang="en-US" sz="2000" dirty="0">
                <a:solidFill>
                  <a:srgbClr val="0B5601"/>
                </a:solidFill>
                <a:latin typeface="Courier"/>
              </a:rPr>
              <a:t> </a:t>
            </a:r>
            <a:r>
              <a:rPr lang="en-US" sz="2000" dirty="0" err="1">
                <a:solidFill>
                  <a:srgbClr val="0B5601"/>
                </a:solidFill>
                <a:latin typeface="Courier"/>
              </a:rPr>
              <a:t>sharedPref</a:t>
            </a:r>
            <a:r>
              <a:rPr lang="en-US" sz="2000" dirty="0">
                <a:solidFill>
                  <a:srgbClr val="0B5601"/>
                </a:solidFill>
                <a:latin typeface="Courier"/>
              </a:rPr>
              <a:t> </a:t>
            </a:r>
            <a:r>
              <a:rPr lang="en-US" sz="2000" dirty="0">
                <a:solidFill>
                  <a:srgbClr val="535502"/>
                </a:solidFill>
                <a:latin typeface="Courier"/>
              </a:rPr>
              <a:t>=</a:t>
            </a:r>
            <a:r>
              <a:rPr lang="en-US" sz="2000" dirty="0">
                <a:solidFill>
                  <a:srgbClr val="0B5601"/>
                </a:solidFill>
                <a:latin typeface="Courier"/>
              </a:rPr>
              <a:t> </a:t>
            </a:r>
          </a:p>
          <a:p>
            <a:r>
              <a:rPr lang="en-US" sz="2000" dirty="0" err="1">
                <a:solidFill>
                  <a:srgbClr val="0B5601"/>
                </a:solidFill>
                <a:latin typeface="Courier"/>
              </a:rPr>
              <a:t>get</a:t>
            </a:r>
            <a:r>
              <a:rPr lang="en-US" sz="2000" b="1" dirty="0" err="1">
                <a:solidFill>
                  <a:srgbClr val="FF0000"/>
                </a:solidFill>
                <a:latin typeface="Courier"/>
              </a:rPr>
              <a:t>Shared</a:t>
            </a:r>
            <a:r>
              <a:rPr lang="en-US" sz="2000" dirty="0" err="1">
                <a:solidFill>
                  <a:srgbClr val="0B5601"/>
                </a:solidFill>
                <a:latin typeface="Courier"/>
              </a:rPr>
              <a:t>Preferences</a:t>
            </a:r>
            <a:r>
              <a:rPr lang="en-US" sz="2000" dirty="0">
                <a:solidFill>
                  <a:srgbClr val="535502"/>
                </a:solidFill>
                <a:latin typeface="Courier"/>
              </a:rPr>
              <a:t>(</a:t>
            </a:r>
            <a:r>
              <a:rPr lang="is-IS" sz="2000" dirty="0">
                <a:solidFill>
                  <a:srgbClr val="0B5601"/>
                </a:solidFill>
                <a:latin typeface="Courier"/>
              </a:rPr>
              <a:t>“myfile”</a:t>
            </a:r>
            <a:r>
              <a:rPr lang="is-IS" sz="2000" dirty="0">
                <a:solidFill>
                  <a:srgbClr val="535502"/>
                </a:solidFill>
                <a:latin typeface="Courier"/>
              </a:rPr>
              <a:t>,</a:t>
            </a:r>
            <a:r>
              <a:rPr lang="is-IS" sz="2000" dirty="0">
                <a:solidFill>
                  <a:srgbClr val="0B5601"/>
                </a:solidFill>
                <a:latin typeface="Courier"/>
              </a:rPr>
              <a:t> </a:t>
            </a:r>
            <a:r>
              <a:rPr lang="is-IS" sz="2000" dirty="0">
                <a:solidFill>
                  <a:srgbClr val="520053"/>
                </a:solidFill>
                <a:latin typeface="Courier"/>
              </a:rPr>
              <a:t>Context</a:t>
            </a:r>
            <a:r>
              <a:rPr lang="is-IS" sz="2000" dirty="0">
                <a:solidFill>
                  <a:srgbClr val="535502"/>
                </a:solidFill>
                <a:latin typeface="Courier"/>
              </a:rPr>
              <a:t>.</a:t>
            </a:r>
            <a:r>
              <a:rPr lang="is-IS" sz="2000" dirty="0">
                <a:solidFill>
                  <a:srgbClr val="0B5601"/>
                </a:solidFill>
                <a:latin typeface="Courier"/>
              </a:rPr>
              <a:t>MODE_PRIVATE</a:t>
            </a:r>
            <a:r>
              <a:rPr lang="is-IS" sz="2000" dirty="0">
                <a:solidFill>
                  <a:srgbClr val="535502"/>
                </a:solidFill>
                <a:latin typeface="Courier"/>
              </a:rPr>
              <a:t>);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1" y="1152455"/>
            <a:ext cx="2222500" cy="61275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Option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49730"/>
            <a:ext cx="2222500" cy="61275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Option 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75585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520053"/>
                </a:solidFill>
                <a:latin typeface="Courier"/>
              </a:rPr>
              <a:t>SharedPreferences</a:t>
            </a:r>
            <a:r>
              <a:rPr lang="en-US" sz="2000" dirty="0">
                <a:solidFill>
                  <a:srgbClr val="0B5601"/>
                </a:solidFill>
                <a:latin typeface="Courier"/>
              </a:rPr>
              <a:t> </a:t>
            </a:r>
            <a:r>
              <a:rPr lang="en-US" sz="2000" dirty="0" err="1">
                <a:solidFill>
                  <a:srgbClr val="0B5601"/>
                </a:solidFill>
                <a:latin typeface="Courier"/>
              </a:rPr>
              <a:t>sharedPref</a:t>
            </a:r>
            <a:r>
              <a:rPr lang="en-US" sz="2000" dirty="0">
                <a:solidFill>
                  <a:srgbClr val="0B5601"/>
                </a:solidFill>
                <a:latin typeface="Courier"/>
              </a:rPr>
              <a:t> </a:t>
            </a:r>
            <a:r>
              <a:rPr lang="en-US" sz="2000" dirty="0">
                <a:solidFill>
                  <a:srgbClr val="535502"/>
                </a:solidFill>
                <a:latin typeface="Courier"/>
              </a:rPr>
              <a:t>=</a:t>
            </a:r>
            <a:r>
              <a:rPr lang="en-US" sz="2000" dirty="0">
                <a:solidFill>
                  <a:srgbClr val="0B5601"/>
                </a:solidFill>
                <a:latin typeface="Courier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urier"/>
              </a:rPr>
              <a:t>getPreferences</a:t>
            </a:r>
            <a:r>
              <a:rPr lang="en-US" sz="2000" dirty="0">
                <a:solidFill>
                  <a:srgbClr val="535502"/>
                </a:solidFill>
                <a:latin typeface="Courier"/>
              </a:rPr>
              <a:t>(</a:t>
            </a:r>
            <a:r>
              <a:rPr lang="en-US" sz="2000" dirty="0" err="1">
                <a:solidFill>
                  <a:srgbClr val="520053"/>
                </a:solidFill>
                <a:latin typeface="Courier"/>
              </a:rPr>
              <a:t>Context</a:t>
            </a:r>
            <a:r>
              <a:rPr lang="en-US" sz="2000" dirty="0" err="1">
                <a:solidFill>
                  <a:srgbClr val="535502"/>
                </a:solidFill>
                <a:latin typeface="Courier"/>
              </a:rPr>
              <a:t>.</a:t>
            </a:r>
            <a:r>
              <a:rPr lang="en-US" sz="2000" dirty="0" err="1">
                <a:solidFill>
                  <a:srgbClr val="0B5601"/>
                </a:solidFill>
                <a:latin typeface="Courier"/>
              </a:rPr>
              <a:t>MODE_PRIVATE</a:t>
            </a:r>
            <a:r>
              <a:rPr lang="en-US" sz="2000" dirty="0">
                <a:solidFill>
                  <a:srgbClr val="535502"/>
                </a:solidFill>
                <a:latin typeface="Courier"/>
              </a:rPr>
              <a:t>);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2374901" y="1152455"/>
            <a:ext cx="6769100" cy="61275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we want more than 1 file, we need to access/create using some String name of our choice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4900" y="4749730"/>
            <a:ext cx="6769100" cy="61275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we just want 1 file, then there is no need for a name, just the mode</a:t>
            </a:r>
          </a:p>
        </p:txBody>
      </p:sp>
    </p:spTree>
    <p:extLst>
      <p:ext uri="{BB962C8B-B14F-4D97-AF65-F5344CB8AC3E}">
        <p14:creationId xmlns:p14="http://schemas.microsoft.com/office/powerpoint/2010/main" val="2678774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write</a:t>
            </a:r>
            <a:r>
              <a:rPr lang="en-US" dirty="0"/>
              <a:t> to </a:t>
            </a:r>
            <a:r>
              <a:rPr lang="en-US" dirty="0" err="1"/>
              <a:t>sharedPreferences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To write to a shared preferences file, create a </a:t>
            </a:r>
            <a:r>
              <a:rPr lang="en-US" dirty="0" err="1">
                <a:solidFill>
                  <a:srgbClr val="3366FF"/>
                </a:solidFill>
                <a:latin typeface="Courier"/>
                <a:cs typeface="Courier"/>
              </a:rPr>
              <a:t>SharedPreferences.Editor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/>
              <a:t>by calling </a:t>
            </a:r>
            <a:r>
              <a:rPr lang="en-US" dirty="0">
                <a:solidFill>
                  <a:srgbClr val="3366FF"/>
                </a:solidFill>
                <a:latin typeface="Courier"/>
                <a:cs typeface="Courier"/>
              </a:rPr>
              <a:t>edit()</a:t>
            </a:r>
            <a:r>
              <a:rPr lang="en-US" dirty="0"/>
              <a:t> on your </a:t>
            </a:r>
            <a:r>
              <a:rPr lang="en-US" dirty="0" err="1">
                <a:solidFill>
                  <a:srgbClr val="3366FF"/>
                </a:solidFill>
                <a:latin typeface="Courier"/>
                <a:cs typeface="Courier"/>
              </a:rPr>
              <a:t>SharedPreferences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Pass the keys and values you want to write with methods such as </a:t>
            </a:r>
            <a:r>
              <a:rPr lang="en-US" dirty="0" err="1">
                <a:solidFill>
                  <a:srgbClr val="3366FF"/>
                </a:solidFill>
                <a:latin typeface="Courier"/>
                <a:cs typeface="Courier"/>
              </a:rPr>
              <a:t>putInt</a:t>
            </a:r>
            <a:r>
              <a:rPr lang="en-US" dirty="0">
                <a:solidFill>
                  <a:srgbClr val="3366FF"/>
                </a:solidFill>
                <a:latin typeface="Courier"/>
                <a:cs typeface="Courier"/>
              </a:rPr>
              <a:t>()</a:t>
            </a:r>
            <a:r>
              <a:rPr lang="en-US" dirty="0"/>
              <a:t> and </a:t>
            </a:r>
            <a:r>
              <a:rPr lang="en-US" dirty="0" err="1">
                <a:solidFill>
                  <a:srgbClr val="3366FF"/>
                </a:solidFill>
                <a:latin typeface="Courier"/>
                <a:cs typeface="Courier"/>
              </a:rPr>
              <a:t>putString</a:t>
            </a:r>
            <a:r>
              <a:rPr lang="en-US" dirty="0">
                <a:solidFill>
                  <a:srgbClr val="3366FF"/>
                </a:solidFill>
                <a:latin typeface="Courier"/>
                <a:cs typeface="Courier"/>
              </a:rPr>
              <a:t>()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Then call </a:t>
            </a:r>
            <a:r>
              <a:rPr lang="en-US" dirty="0">
                <a:solidFill>
                  <a:srgbClr val="3366FF"/>
                </a:solidFill>
                <a:latin typeface="Courier"/>
                <a:cs typeface="Courier"/>
              </a:rPr>
              <a:t>commit()</a:t>
            </a:r>
            <a:r>
              <a:rPr lang="en-US" dirty="0"/>
              <a:t> to save the changes</a:t>
            </a:r>
          </a:p>
        </p:txBody>
      </p:sp>
    </p:spTree>
    <p:extLst>
      <p:ext uri="{BB962C8B-B14F-4D97-AF65-F5344CB8AC3E}">
        <p14:creationId xmlns:p14="http://schemas.microsoft.com/office/powerpoint/2010/main" val="1266097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Writing to </a:t>
            </a:r>
            <a:r>
              <a:rPr lang="en-US" dirty="0" err="1"/>
              <a:t>sharedPreferences</a:t>
            </a: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210312" y="2337390"/>
            <a:ext cx="8737745" cy="3114905"/>
          </a:xfrm>
          <a:prstGeom prst="rect">
            <a:avLst/>
          </a:prstGeom>
          <a:solidFill>
            <a:srgbClr val="F7F7F7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Courier New" pitchFamily="49" charset="0"/>
                <a:cs typeface="Arial" pitchFamily="34" charset="0"/>
              </a:rPr>
              <a:t>SharedPreferences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Arial" pitchFamily="34" charset="0"/>
              </a:rPr>
              <a:t> 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Arial" pitchFamily="34" charset="0"/>
              </a:rPr>
              <a:t>mypref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Arial" pitchFamily="34" charset="0"/>
              </a:rPr>
              <a:t>=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Arial" pitchFamily="34" charset="0"/>
              </a:rPr>
              <a:t> 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Arial" pitchFamily="34" charset="0"/>
              </a:rPr>
              <a:t>getPreferences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Arial" pitchFamily="34" charset="0"/>
              </a:rPr>
              <a:t>(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Courier New" pitchFamily="49" charset="0"/>
                <a:cs typeface="Arial" pitchFamily="34" charset="0"/>
              </a:rPr>
              <a:t>Context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Arial" pitchFamily="34" charset="0"/>
              </a:rPr>
              <a:t>.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Arial" pitchFamily="34" charset="0"/>
              </a:rPr>
              <a:t>MODE_PRIVATE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Arial" pitchFamily="34" charset="0"/>
              </a:rPr>
              <a:t>);</a:t>
            </a:r>
            <a:b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Arial" pitchFamily="34" charset="0"/>
              </a:rPr>
            </a:b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itchFamily="49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Courier New" pitchFamily="49" charset="0"/>
                <a:cs typeface="Arial" pitchFamily="34" charset="0"/>
              </a:rPr>
              <a:t>SharedPreferences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Arial" pitchFamily="34" charset="0"/>
              </a:rPr>
              <a:t>.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Courier New" pitchFamily="49" charset="0"/>
                <a:cs typeface="Arial" pitchFamily="34" charset="0"/>
              </a:rPr>
              <a:t>Editor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Arial" pitchFamily="34" charset="0"/>
              </a:rPr>
              <a:t> e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Arial" pitchFamily="34" charset="0"/>
              </a:rPr>
              <a:t>=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mypref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Arial" pitchFamily="34" charset="0"/>
              </a:rPr>
              <a:t>.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Arial" pitchFamily="34" charset="0"/>
              </a:rPr>
              <a:t>edit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Arial" pitchFamily="34" charset="0"/>
              </a:rPr>
              <a:t>();</a:t>
            </a:r>
            <a:b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Arial" pitchFamily="34" charset="0"/>
              </a:rPr>
            </a:b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itchFamily="49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Arial" pitchFamily="34" charset="0"/>
              </a:rPr>
              <a:t>e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Arial" pitchFamily="34" charset="0"/>
              </a:rPr>
              <a:t>.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Arial" pitchFamily="34" charset="0"/>
              </a:rPr>
              <a:t>putInt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Arial" pitchFamily="34" charset="0"/>
              </a:rPr>
              <a:t>(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Arial" pitchFamily="34" charset="0"/>
              </a:rPr>
              <a:t>“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Arial" pitchFamily="34" charset="0"/>
              </a:rPr>
              <a:t>highscore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Arial" pitchFamily="34" charset="0"/>
              </a:rPr>
              <a:t>”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Arial" pitchFamily="34" charset="0"/>
              </a:rPr>
              <a:t>,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Arial" pitchFamily="34" charset="0"/>
              </a:rPr>
              <a:t> 400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Arial" pitchFamily="34" charset="0"/>
              </a:rPr>
              <a:t>);</a:t>
            </a:r>
            <a:b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Arial" pitchFamily="34" charset="0"/>
              </a:rPr>
            </a:b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itchFamily="49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Arial" pitchFamily="34" charset="0"/>
              </a:rPr>
              <a:t>e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Arial" pitchFamily="34" charset="0"/>
              </a:rPr>
              <a:t>.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Arial" pitchFamily="34" charset="0"/>
              </a:rPr>
              <a:t>commit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Arial" pitchFamily="34" charset="0"/>
              </a:rPr>
              <a:t>();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5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Read</a:t>
            </a:r>
            <a:r>
              <a:rPr lang="en-US" dirty="0"/>
              <a:t> from </a:t>
            </a:r>
            <a:r>
              <a:rPr lang="en-US" dirty="0" err="1"/>
              <a:t>SharedPreferences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To retrieve values from a shared preferences file, call methods such as </a:t>
            </a:r>
            <a:r>
              <a:rPr lang="en-US" sz="2400" dirty="0" err="1">
                <a:hlinkClick r:id="rId2"/>
              </a:rPr>
              <a:t>getInt</a:t>
            </a:r>
            <a:r>
              <a:rPr lang="en-US" sz="2400" dirty="0">
                <a:hlinkClick r:id="rId2"/>
              </a:rPr>
              <a:t>()</a:t>
            </a:r>
            <a:r>
              <a:rPr lang="en-US" sz="2400" dirty="0"/>
              <a:t> and </a:t>
            </a:r>
            <a:r>
              <a:rPr lang="en-US" sz="2400" dirty="0" err="1">
                <a:hlinkClick r:id="rId2"/>
              </a:rPr>
              <a:t>getString</a:t>
            </a:r>
            <a:r>
              <a:rPr lang="en-US" sz="2400" dirty="0">
                <a:hlinkClick r:id="rId2"/>
              </a:rPr>
              <a:t>()</a:t>
            </a:r>
            <a:r>
              <a:rPr lang="en-US" sz="2400" dirty="0"/>
              <a:t>, providing the key for the value you want, and optionally a default value to return if the key isn't present.</a:t>
            </a:r>
          </a:p>
        </p:txBody>
      </p:sp>
      <p:sp>
        <p:nvSpPr>
          <p:cNvPr id="22529" name="Rectangle 1"/>
          <p:cNvSpPr>
            <a:spLocks noChangeArrowheads="1"/>
          </p:cNvSpPr>
          <p:nvPr/>
        </p:nvSpPr>
        <p:spPr bwMode="auto">
          <a:xfrm>
            <a:off x="45720" y="3621960"/>
            <a:ext cx="9098280" cy="2745573"/>
          </a:xfrm>
          <a:prstGeom prst="rect">
            <a:avLst/>
          </a:prstGeom>
          <a:solidFill>
            <a:srgbClr val="F7F7F7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Courier New" pitchFamily="49" charset="0"/>
                <a:cs typeface="Courier New" pitchFamily="49" charset="0"/>
              </a:rPr>
              <a:t>SharedPreferences</a:t>
            </a: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400" b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sharedPref</a:t>
            </a: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Courier New" pitchFamily="49" charset="0"/>
              </a:rPr>
              <a:t>=</a:t>
            </a: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400" b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getPreferences</a:t>
            </a: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sz="2400" b="1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Courier New" pitchFamily="49" charset="0"/>
                <a:cs typeface="Courier New" pitchFamily="49" charset="0"/>
              </a:rPr>
              <a:t>Context</a:t>
            </a:r>
            <a:r>
              <a:rPr kumimoji="0" lang="en-US" sz="2400" b="1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Courier New" pitchFamily="49" charset="0"/>
              </a:rPr>
              <a:t>.</a:t>
            </a:r>
            <a:r>
              <a:rPr kumimoji="0" lang="en-US" sz="2400" b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MODE_PRIVATE</a:t>
            </a: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en-US" sz="2400" b="1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400" b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defaultValue</a:t>
            </a: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Courier New" pitchFamily="49" charset="0"/>
              </a:rPr>
              <a:t>=</a:t>
            </a: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 100</a:t>
            </a: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Courier New" pitchFamily="49" charset="0"/>
              </a:rPr>
              <a:t>; //example</a:t>
            </a:r>
            <a:b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</a:br>
            <a:endParaRPr kumimoji="0" lang="en-US" sz="2400" b="1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400" b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highScore</a:t>
            </a: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Courier New" pitchFamily="49" charset="0"/>
              </a:rPr>
              <a:t>=</a:t>
            </a: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400" b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sharedPref</a:t>
            </a:r>
            <a:r>
              <a:rPr kumimoji="0" lang="en-US" sz="2400" b="1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Courier New" pitchFamily="49" charset="0"/>
              </a:rPr>
              <a:t>.</a:t>
            </a:r>
            <a:r>
              <a:rPr kumimoji="0" lang="en-US" sz="2400" b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getInt</a:t>
            </a: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Courier New" pitchFamily="49" charset="0"/>
              </a:rPr>
              <a:t>(“</a:t>
            </a:r>
            <a:r>
              <a:rPr kumimoji="0" lang="en-US" sz="2400" b="1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Courier New" pitchFamily="49" charset="0"/>
              </a:rPr>
              <a:t>highscore</a:t>
            </a: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Courier New" pitchFamily="49" charset="0"/>
              </a:rPr>
              <a:t>”,</a:t>
            </a: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400" b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defaultValue</a:t>
            </a: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itchFamily="49" charset="0"/>
                <a:cs typeface="Courier New" pitchFamily="49" charset="0"/>
              </a:rPr>
              <a:t>);</a:t>
            </a: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51301" y="1318763"/>
            <a:ext cx="8647448" cy="4524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public void </a:t>
            </a:r>
            <a:r>
              <a:rPr lang="en-US" b="1" dirty="0" err="1"/>
              <a:t>saveoption</a:t>
            </a:r>
            <a:r>
              <a:rPr lang="en-US" b="1" dirty="0"/>
              <a:t>(View view){</a:t>
            </a:r>
          </a:p>
          <a:p>
            <a:r>
              <a:rPr lang="en-US" dirty="0"/>
              <a:t>	</a:t>
            </a:r>
            <a:r>
              <a:rPr lang="en-US" dirty="0" err="1"/>
              <a:t>SharedPreferences</a:t>
            </a:r>
            <a:r>
              <a:rPr lang="en-US" dirty="0"/>
              <a:t> </a:t>
            </a:r>
            <a:r>
              <a:rPr lang="en-US" dirty="0" err="1"/>
              <a:t>mypref</a:t>
            </a:r>
            <a:r>
              <a:rPr lang="en-US" dirty="0"/>
              <a:t> = </a:t>
            </a:r>
            <a:r>
              <a:rPr lang="en-US" b="1" dirty="0" err="1"/>
              <a:t>getPreferences</a:t>
            </a:r>
            <a:r>
              <a:rPr lang="en-US" b="1" dirty="0"/>
              <a:t>(</a:t>
            </a:r>
            <a:r>
              <a:rPr lang="en-US" b="1" dirty="0" err="1"/>
              <a:t>Context.</a:t>
            </a:r>
            <a:r>
              <a:rPr lang="en-US" b="1" i="1" dirty="0" err="1"/>
              <a:t>MODE_PRIVATE</a:t>
            </a:r>
            <a:r>
              <a:rPr lang="en-US" b="1" i="1" dirty="0"/>
              <a:t>);</a:t>
            </a:r>
          </a:p>
          <a:p>
            <a:r>
              <a:rPr lang="pt-BR" dirty="0"/>
              <a:t>	</a:t>
            </a:r>
            <a:r>
              <a:rPr lang="pt-BR" dirty="0" err="1"/>
              <a:t>SharedPreferences.Editor</a:t>
            </a:r>
            <a:r>
              <a:rPr lang="pt-BR" dirty="0"/>
              <a:t> e = </a:t>
            </a:r>
            <a:r>
              <a:rPr lang="pt-BR" dirty="0" err="1"/>
              <a:t>mypref.edit</a:t>
            </a:r>
            <a:r>
              <a:rPr lang="pt-BR" dirty="0"/>
              <a:t>();</a:t>
            </a:r>
          </a:p>
          <a:p>
            <a:r>
              <a:rPr lang="en-US" dirty="0"/>
              <a:t>	</a:t>
            </a:r>
          </a:p>
          <a:p>
            <a:r>
              <a:rPr lang="it-IT" dirty="0"/>
              <a:t>	</a:t>
            </a:r>
            <a:r>
              <a:rPr lang="it-IT" dirty="0" err="1"/>
              <a:t>RadioButton</a:t>
            </a:r>
            <a:r>
              <a:rPr lang="it-IT" dirty="0"/>
              <a:t> r0 = (</a:t>
            </a:r>
            <a:r>
              <a:rPr lang="it-IT" dirty="0" err="1"/>
              <a:t>RadioButton</a:t>
            </a:r>
            <a:r>
              <a:rPr lang="it-IT" dirty="0"/>
              <a:t>) </a:t>
            </a:r>
            <a:r>
              <a:rPr lang="it-IT" dirty="0" err="1"/>
              <a:t>findViewById</a:t>
            </a:r>
            <a:r>
              <a:rPr lang="it-IT" dirty="0"/>
              <a:t>(R.id.</a:t>
            </a:r>
            <a:r>
              <a:rPr lang="it-IT" i="1" dirty="0"/>
              <a:t>radio0);</a:t>
            </a:r>
          </a:p>
          <a:p>
            <a:r>
              <a:rPr lang="it-IT" dirty="0"/>
              <a:t>	//</a:t>
            </a:r>
            <a:r>
              <a:rPr lang="it-IT" dirty="0" err="1"/>
              <a:t>RadioButton</a:t>
            </a:r>
            <a:r>
              <a:rPr lang="it-IT" dirty="0"/>
              <a:t> r1 = (</a:t>
            </a:r>
            <a:r>
              <a:rPr lang="it-IT" dirty="0" err="1"/>
              <a:t>RadioButton</a:t>
            </a:r>
            <a:r>
              <a:rPr lang="it-IT" dirty="0"/>
              <a:t>) </a:t>
            </a:r>
            <a:r>
              <a:rPr lang="it-IT" dirty="0" err="1"/>
              <a:t>findViewById</a:t>
            </a:r>
            <a:r>
              <a:rPr lang="it-IT" dirty="0"/>
              <a:t>(R.id.radio1);</a:t>
            </a:r>
          </a:p>
          <a:p>
            <a:r>
              <a:rPr lang="en-US" dirty="0"/>
              <a:t>	</a:t>
            </a:r>
          </a:p>
          <a:p>
            <a:r>
              <a:rPr lang="pl-PL" dirty="0"/>
              <a:t>	</a:t>
            </a:r>
            <a:r>
              <a:rPr lang="pl-PL" b="1" dirty="0" err="1"/>
              <a:t>if</a:t>
            </a:r>
            <a:r>
              <a:rPr lang="pl-PL" b="1" dirty="0"/>
              <a:t>(r0.isChecked()){</a:t>
            </a:r>
          </a:p>
          <a:p>
            <a:r>
              <a:rPr lang="en-US" dirty="0"/>
              <a:t>		</a:t>
            </a:r>
          </a:p>
          <a:p>
            <a:r>
              <a:rPr lang="fr-FR" dirty="0"/>
              <a:t>		</a:t>
            </a:r>
            <a:r>
              <a:rPr lang="fr-FR" dirty="0" err="1"/>
              <a:t>e.putString</a:t>
            </a:r>
            <a:r>
              <a:rPr lang="fr-FR" dirty="0"/>
              <a:t>("</a:t>
            </a:r>
            <a:r>
              <a:rPr lang="fr-FR" dirty="0" err="1"/>
              <a:t>choice</a:t>
            </a:r>
            <a:r>
              <a:rPr lang="fr-FR" dirty="0"/>
              <a:t>", "option 0");</a:t>
            </a:r>
          </a:p>
          <a:p>
            <a:r>
              <a:rPr lang="en-US" dirty="0"/>
              <a:t>	}</a:t>
            </a:r>
          </a:p>
          <a:p>
            <a:r>
              <a:rPr lang="da-DK" dirty="0"/>
              <a:t>	</a:t>
            </a:r>
            <a:r>
              <a:rPr lang="da-DK" b="1" dirty="0" err="1"/>
              <a:t>else</a:t>
            </a:r>
            <a:r>
              <a:rPr lang="da-DK" b="1" dirty="0"/>
              <a:t> { </a:t>
            </a:r>
            <a:r>
              <a:rPr lang="da-DK" b="1" dirty="0" err="1"/>
              <a:t>e.putString</a:t>
            </a:r>
            <a:r>
              <a:rPr lang="da-DK" b="1" dirty="0"/>
              <a:t>("</a:t>
            </a:r>
            <a:r>
              <a:rPr lang="da-DK" b="1" dirty="0" err="1"/>
              <a:t>choice</a:t>
            </a:r>
            <a:r>
              <a:rPr lang="da-DK" b="1" dirty="0"/>
              <a:t>", "option 1");}</a:t>
            </a:r>
          </a:p>
          <a:p>
            <a:r>
              <a:rPr lang="en-US" dirty="0"/>
              <a:t>	</a:t>
            </a:r>
          </a:p>
          <a:p>
            <a:r>
              <a:rPr lang="fr-FR" dirty="0"/>
              <a:t>	</a:t>
            </a:r>
            <a:r>
              <a:rPr lang="fr-FR" dirty="0" err="1"/>
              <a:t>e.commit</a:t>
            </a:r>
            <a:r>
              <a:rPr lang="fr-FR" dirty="0"/>
              <a:t>();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67732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Accessing the </a:t>
            </a:r>
            <a:r>
              <a:rPr lang="en-US" dirty="0" err="1"/>
              <a:t>sharedpreference</a:t>
            </a:r>
            <a:r>
              <a:rPr lang="en-US" dirty="0"/>
              <a:t> file from different activities.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as before but assign a name for it</a:t>
            </a:r>
          </a:p>
        </p:txBody>
      </p:sp>
    </p:spTree>
    <p:extLst>
      <p:ext uri="{BB962C8B-B14F-4D97-AF65-F5344CB8AC3E}">
        <p14:creationId xmlns:p14="http://schemas.microsoft.com/office/powerpoint/2010/main" val="1716671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Topics covered:</a:t>
            </a:r>
          </a:p>
          <a:p>
            <a:pPr lvl="1"/>
            <a:r>
              <a:rPr lang="en-US" dirty="0" err="1"/>
              <a:t>sharedPreferences</a:t>
            </a:r>
            <a:endParaRPr lang="en-US" dirty="0"/>
          </a:p>
          <a:p>
            <a:pPr lvl="1"/>
            <a:r>
              <a:rPr lang="en-US" dirty="0"/>
              <a:t>Floating button</a:t>
            </a:r>
          </a:p>
          <a:p>
            <a:pPr lvl="1"/>
            <a:r>
              <a:rPr lang="en-US" dirty="0" err="1"/>
              <a:t>SnackBar</a:t>
            </a:r>
            <a:endParaRPr lang="en-US" dirty="0"/>
          </a:p>
          <a:p>
            <a:pPr lvl="1"/>
            <a:r>
              <a:rPr lang="en-US" dirty="0"/>
              <a:t>Action Bar (from a previous chapter)</a:t>
            </a:r>
          </a:p>
        </p:txBody>
      </p:sp>
    </p:spTree>
    <p:extLst>
      <p:ext uri="{BB962C8B-B14F-4D97-AF65-F5344CB8AC3E}">
        <p14:creationId xmlns:p14="http://schemas.microsoft.com/office/powerpoint/2010/main" val="322444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activities: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5939" t="6169" r="14947" b="10348"/>
          <a:stretch/>
        </p:blipFill>
        <p:spPr>
          <a:xfrm>
            <a:off x="-1" y="9455"/>
            <a:ext cx="3370997" cy="6766189"/>
          </a:xfrm>
          <a:prstGeom prst="roundRect">
            <a:avLst>
              <a:gd name="adj" fmla="val 12183"/>
            </a:avLst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5608" t="5919" r="14616" b="9901"/>
          <a:stretch/>
        </p:blipFill>
        <p:spPr>
          <a:xfrm>
            <a:off x="5773002" y="9455"/>
            <a:ext cx="3370998" cy="6757971"/>
          </a:xfrm>
          <a:prstGeom prst="round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3029803" y="1152455"/>
            <a:ext cx="2647666" cy="1481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105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activities:</a:t>
            </a:r>
          </a:p>
          <a:p>
            <a:r>
              <a:rPr lang="en-US" dirty="0" err="1"/>
              <a:t>MainActivity</a:t>
            </a:r>
            <a:r>
              <a:rPr lang="en-US" dirty="0"/>
              <a:t> is empty but has an action bar containing “settings”</a:t>
            </a:r>
          </a:p>
          <a:p>
            <a:r>
              <a:rPr lang="en-US" dirty="0"/>
              <a:t>When we press on settings, we go to the Settings Activity containing an </a:t>
            </a:r>
            <a:r>
              <a:rPr lang="en-US" dirty="0" err="1"/>
              <a:t>EditText</a:t>
            </a:r>
            <a:r>
              <a:rPr lang="en-US" dirty="0"/>
              <a:t> and a switch and a floating button containing an icon for saving.</a:t>
            </a:r>
          </a:p>
          <a:p>
            <a:r>
              <a:rPr lang="en-US" dirty="0"/>
              <a:t>When we press on save, the values are saved.</a:t>
            </a:r>
          </a:p>
        </p:txBody>
      </p:sp>
    </p:spTree>
    <p:extLst>
      <p:ext uri="{BB962C8B-B14F-4D97-AF65-F5344CB8AC3E}">
        <p14:creationId xmlns:p14="http://schemas.microsoft.com/office/powerpoint/2010/main" val="1035851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continues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Each time we go to the settings activity, the PREVIOUSLY saved values should be loaded. </a:t>
            </a:r>
          </a:p>
          <a:p>
            <a:r>
              <a:rPr lang="en-US" dirty="0"/>
              <a:t>Of course the user can change them again and save.</a:t>
            </a:r>
          </a:p>
          <a:p>
            <a:r>
              <a:rPr lang="en-US" dirty="0"/>
              <a:t>Also note that if you exit the app and enter again, the valued should be still saved.</a:t>
            </a:r>
          </a:p>
          <a:p>
            <a:endParaRPr lang="en-US" dirty="0"/>
          </a:p>
          <a:p>
            <a:r>
              <a:rPr lang="en-US" dirty="0"/>
              <a:t>Extra care should be taken if we are going to the Settings activity for the FIRST time.</a:t>
            </a:r>
          </a:p>
        </p:txBody>
      </p:sp>
    </p:spTree>
    <p:extLst>
      <p:ext uri="{BB962C8B-B14F-4D97-AF65-F5344CB8AC3E}">
        <p14:creationId xmlns:p14="http://schemas.microsoft.com/office/powerpoint/2010/main" val="171210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solution will be 2 parts. Each having several parts.</a:t>
            </a:r>
          </a:p>
          <a:p>
            <a:endParaRPr lang="en-US" dirty="0"/>
          </a:p>
          <a:p>
            <a:r>
              <a:rPr lang="en-US" dirty="0"/>
              <a:t>PART 1: Main activity.</a:t>
            </a:r>
          </a:p>
          <a:p>
            <a:pPr lvl="1"/>
            <a:r>
              <a:rPr lang="en-US" dirty="0"/>
              <a:t>Part 1.1 add the “settings” item to the action bar </a:t>
            </a:r>
          </a:p>
          <a:p>
            <a:pPr lvl="1"/>
            <a:r>
              <a:rPr lang="en-US" dirty="0"/>
              <a:t>Part 1.2 Program it to take me to the </a:t>
            </a:r>
            <a:r>
              <a:rPr lang="en-US" dirty="0" err="1"/>
              <a:t>SettingsActivity</a:t>
            </a:r>
            <a:r>
              <a:rPr lang="en-US" dirty="0"/>
              <a:t> when clicked. (you need to modify the </a:t>
            </a:r>
            <a:r>
              <a:rPr lang="en-US" dirty="0" err="1"/>
              <a:t>onOptionsItemSelected</a:t>
            </a:r>
            <a:r>
              <a:rPr lang="en-US" dirty="0"/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1450307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1.1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Add the settings to the action bar in the xml file in the MENU folder. (you will find it added by default but let’s make it ALWAYS instead of NEVER).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764572"/>
            <a:ext cx="9144000" cy="40934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menu </a:t>
            </a:r>
            <a:r>
              <a:rPr lang="en-US" sz="20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xmlns:android</a:t>
            </a: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="http://</a:t>
            </a:r>
            <a:r>
              <a:rPr lang="en-US" sz="20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schemas.android.com</a:t>
            </a: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/</a:t>
            </a:r>
            <a:r>
              <a:rPr lang="en-US" sz="20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apk</a:t>
            </a: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/res/android"</a:t>
            </a:r>
            <a:b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sz="20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xmlns:app</a:t>
            </a: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="http://</a:t>
            </a:r>
            <a:r>
              <a:rPr lang="en-US" sz="20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schemas.android.com</a:t>
            </a: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/</a:t>
            </a:r>
            <a:r>
              <a:rPr lang="en-US" sz="20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apk</a:t>
            </a: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/res-auto"</a:t>
            </a:r>
            <a:b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sz="20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xmlns:tools</a:t>
            </a: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="http://</a:t>
            </a:r>
            <a:r>
              <a:rPr lang="en-US" sz="20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schemas.android.com</a:t>
            </a: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/tools"</a:t>
            </a:r>
            <a:b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sz="20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tools:context</a:t>
            </a: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=".Main2Activity"</a:t>
            </a:r>
            <a:r>
              <a:rPr lang="en-US" sz="20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sz="20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br>
              <a:rPr lang="en-US" sz="20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20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item </a:t>
            </a:r>
            <a:r>
              <a:rPr lang="en-US" sz="20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android:id</a:t>
            </a: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="@+id/</a:t>
            </a:r>
            <a:r>
              <a:rPr lang="en-US" sz="20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mySettings</a:t>
            </a: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" </a:t>
            </a:r>
            <a:b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android:title</a:t>
            </a: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="@string/</a:t>
            </a:r>
            <a:r>
              <a:rPr lang="en-US" sz="20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action_settings</a:t>
            </a: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b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android:orderInCategory</a:t>
            </a: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="100" </a:t>
            </a:r>
            <a:b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app:showAsAction</a:t>
            </a: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="always" </a:t>
            </a:r>
            <a:r>
              <a:rPr lang="en-US" sz="20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/&gt;</a:t>
            </a:r>
            <a:br>
              <a:rPr lang="en-US" sz="20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br>
              <a:rPr lang="en-US" sz="20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20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sz="20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menu</a:t>
            </a:r>
            <a:r>
              <a:rPr lang="en-US" sz="20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sz="20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endParaRPr lang="en-US" sz="2000" dirty="0">
              <a:solidFill>
                <a:schemeClr val="bg1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606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1.2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90768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8000"/>
                </a:solidFill>
                <a:latin typeface="Courier" charset="0"/>
                <a:ea typeface="Courier" charset="0"/>
                <a:cs typeface="Courier" charset="0"/>
              </a:rPr>
              <a:t>@Override</a:t>
            </a:r>
            <a:br>
              <a:rPr lang="en-US" dirty="0">
                <a:solidFill>
                  <a:srgbClr val="80800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public </a:t>
            </a:r>
            <a:r>
              <a:rPr lang="en-US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boolean</a:t>
            </a:r>
            <a:r>
              <a:rPr lang="en-US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onOptionsItemSelected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MenuItem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item) {</a:t>
            </a:r>
            <a:br>
              <a:rPr lang="en-US" dirty="0">
                <a:latin typeface="Courier" charset="0"/>
                <a:ea typeface="Courier" charset="0"/>
                <a:cs typeface="Courier" charset="0"/>
              </a:rPr>
            </a:br>
            <a:br>
              <a:rPr lang="en-US" dirty="0">
                <a:latin typeface="Courier" charset="0"/>
                <a:ea typeface="Courier" charset="0"/>
                <a:cs typeface="Courier" charset="0"/>
              </a:rPr>
            </a:br>
            <a:br>
              <a:rPr lang="en-US" dirty="0">
                <a:latin typeface="Courier" charset="0"/>
                <a:ea typeface="Courier" charset="0"/>
                <a:cs typeface="Courier" charset="0"/>
              </a:rPr>
            </a:br>
            <a:r>
              <a:rPr lang="en-US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id =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item.getItemId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();</a:t>
            </a:r>
            <a:br>
              <a:rPr lang="en-US" dirty="0">
                <a:latin typeface="Courier" charset="0"/>
                <a:ea typeface="Courier" charset="0"/>
                <a:cs typeface="Courier" charset="0"/>
              </a:rPr>
            </a:br>
            <a:br>
              <a:rPr lang="en-US" dirty="0">
                <a:latin typeface="Courier" charset="0"/>
                <a:ea typeface="Courier" charset="0"/>
                <a:cs typeface="Courier" charset="0"/>
              </a:rPr>
            </a:br>
            <a:r>
              <a:rPr lang="en-US" dirty="0">
                <a:latin typeface="Courier" charset="0"/>
                <a:ea typeface="Courier" charset="0"/>
                <a:cs typeface="Courier" charset="0"/>
              </a:rPr>
              <a:t>    </a:t>
            </a:r>
            <a:br>
              <a:rPr lang="en-US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if 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(id ==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R.id.</a:t>
            </a:r>
            <a:r>
              <a:rPr lang="en-US" b="1" i="1" dirty="0" err="1">
                <a:solidFill>
                  <a:srgbClr val="660E7A"/>
                </a:solidFill>
                <a:latin typeface="Courier" charset="0"/>
                <a:ea typeface="Courier" charset="0"/>
                <a:cs typeface="Courier" charset="0"/>
              </a:rPr>
              <a:t>mySettings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) {</a:t>
            </a:r>
            <a:br>
              <a:rPr lang="en-US" dirty="0">
                <a:latin typeface="Courier" charset="0"/>
                <a:ea typeface="Courier" charset="0"/>
                <a:cs typeface="Courier" charset="0"/>
              </a:rPr>
            </a:br>
            <a:br>
              <a:rPr lang="en-US" dirty="0">
                <a:latin typeface="Courier" charset="0"/>
                <a:ea typeface="Courier" charset="0"/>
                <a:cs typeface="Courier" charset="0"/>
              </a:rPr>
            </a:br>
            <a:r>
              <a:rPr lang="en-US" dirty="0">
                <a:latin typeface="Courier" charset="0"/>
                <a:ea typeface="Courier" charset="0"/>
                <a:cs typeface="Courier" charset="0"/>
              </a:rPr>
              <a:t>        Intent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i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new 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Intent(</a:t>
            </a:r>
            <a:r>
              <a:rPr lang="en-US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this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SettingsActivity.</a:t>
            </a:r>
            <a:r>
              <a:rPr lang="en-US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class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);</a:t>
            </a:r>
            <a:br>
              <a:rPr lang="en-US" dirty="0">
                <a:latin typeface="Courier" charset="0"/>
                <a:ea typeface="Courier" charset="0"/>
                <a:cs typeface="Courier" charset="0"/>
              </a:rPr>
            </a:br>
            <a:r>
              <a:rPr lang="en-US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startActivity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i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);</a:t>
            </a:r>
            <a:br>
              <a:rPr lang="en-US" dirty="0">
                <a:latin typeface="Courier" charset="0"/>
                <a:ea typeface="Courier" charset="0"/>
                <a:cs typeface="Courier" charset="0"/>
              </a:rPr>
            </a:br>
            <a:br>
              <a:rPr lang="en-US" dirty="0">
                <a:latin typeface="Courier" charset="0"/>
                <a:ea typeface="Courier" charset="0"/>
                <a:cs typeface="Courier" charset="0"/>
              </a:rPr>
            </a:br>
            <a:br>
              <a:rPr lang="en-US" dirty="0">
                <a:latin typeface="Courier" charset="0"/>
                <a:ea typeface="Courier" charset="0"/>
                <a:cs typeface="Courier" charset="0"/>
              </a:rPr>
            </a:br>
            <a:r>
              <a:rPr lang="en-US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return true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;</a:t>
            </a:r>
            <a:br>
              <a:rPr lang="en-US" dirty="0">
                <a:latin typeface="Courier" charset="0"/>
                <a:ea typeface="Courier" charset="0"/>
                <a:cs typeface="Courier" charset="0"/>
              </a:rPr>
            </a:br>
            <a:r>
              <a:rPr lang="en-US" dirty="0">
                <a:latin typeface="Courier" charset="0"/>
                <a:ea typeface="Courier" charset="0"/>
                <a:cs typeface="Courier" charset="0"/>
              </a:rPr>
              <a:t>    }</a:t>
            </a:r>
            <a:br>
              <a:rPr lang="en-US" dirty="0">
                <a:latin typeface="Courier" charset="0"/>
                <a:ea typeface="Courier" charset="0"/>
                <a:cs typeface="Courier" charset="0"/>
              </a:rPr>
            </a:br>
            <a:br>
              <a:rPr lang="en-US" dirty="0">
                <a:latin typeface="Courier" charset="0"/>
                <a:ea typeface="Courier" charset="0"/>
                <a:cs typeface="Courier" charset="0"/>
              </a:rPr>
            </a:br>
            <a:r>
              <a:rPr lang="en-US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return </a:t>
            </a:r>
            <a:r>
              <a:rPr lang="en-US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super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.onOptionsItemSelected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(item);</a:t>
            </a:r>
            <a:br>
              <a:rPr lang="en-US" dirty="0">
                <a:latin typeface="Courier" charset="0"/>
                <a:ea typeface="Courier" charset="0"/>
                <a:cs typeface="Courier" charset="0"/>
              </a:rPr>
            </a:br>
            <a:r>
              <a:rPr lang="en-US" dirty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53911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975" y="2801203"/>
            <a:ext cx="8229600" cy="149784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/>
              <a:t>That’s all we need to do in the main activity </a:t>
            </a:r>
            <a:r>
              <a:rPr lang="en-US" sz="6000" dirty="0">
                <a:sym typeface="Wingdings"/>
              </a:rPr>
              <a:t></a:t>
            </a:r>
          </a:p>
          <a:p>
            <a:pPr marL="0" indent="0" algn="ctr">
              <a:buNone/>
            </a:pPr>
            <a:r>
              <a:rPr lang="en-US" sz="6000" dirty="0">
                <a:sym typeface="Wingdings"/>
              </a:rPr>
              <a:t>Let’s see part 2.</a:t>
            </a:r>
          </a:p>
        </p:txBody>
      </p:sp>
    </p:spTree>
    <p:extLst>
      <p:ext uri="{BB962C8B-B14F-4D97-AF65-F5344CB8AC3E}">
        <p14:creationId xmlns:p14="http://schemas.microsoft.com/office/powerpoint/2010/main" val="1190256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the Settings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Part 2.1 design it in XML</a:t>
            </a:r>
          </a:p>
          <a:p>
            <a:r>
              <a:rPr lang="en-US" dirty="0"/>
              <a:t>Part 2.2 Java:</a:t>
            </a:r>
          </a:p>
          <a:p>
            <a:pPr lvl="1"/>
            <a:r>
              <a:rPr lang="en-US" dirty="0"/>
              <a:t>2.2.A) inside </a:t>
            </a:r>
            <a:r>
              <a:rPr lang="en-US" dirty="0" err="1"/>
              <a:t>onCreate</a:t>
            </a:r>
            <a:r>
              <a:rPr lang="en-US" dirty="0"/>
              <a:t>, try to read the </a:t>
            </a:r>
            <a:r>
              <a:rPr lang="en-US" dirty="0" err="1"/>
              <a:t>sharedPref</a:t>
            </a:r>
            <a:r>
              <a:rPr lang="en-US" dirty="0"/>
              <a:t> file and extract the values and set the </a:t>
            </a:r>
            <a:r>
              <a:rPr lang="en-US" dirty="0" err="1"/>
              <a:t>editText</a:t>
            </a:r>
            <a:r>
              <a:rPr lang="en-US" dirty="0"/>
              <a:t> and the switch accordingly. Be careful, it might be the first time you enter and nothing is saved yet.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2.2.B) Program the floating button in a way that when clicked, the 2 values are extracted from the layout, and saved into the </a:t>
            </a:r>
            <a:r>
              <a:rPr lang="en-US" dirty="0" err="1"/>
              <a:t>sharedPref</a:t>
            </a:r>
            <a:r>
              <a:rPr lang="en-US" dirty="0"/>
              <a:t> file. Also make the </a:t>
            </a:r>
            <a:r>
              <a:rPr lang="en-US" dirty="0" err="1"/>
              <a:t>snackbar</a:t>
            </a:r>
            <a:r>
              <a:rPr lang="en-US" dirty="0"/>
              <a:t> appear to tell the user that save was successful. (</a:t>
            </a:r>
            <a:r>
              <a:rPr lang="en-US" dirty="0" err="1"/>
              <a:t>Snackbar</a:t>
            </a:r>
            <a:r>
              <a:rPr lang="en-US" dirty="0"/>
              <a:t> is like toast but more advanced)</a:t>
            </a:r>
          </a:p>
        </p:txBody>
      </p:sp>
    </p:spTree>
    <p:extLst>
      <p:ext uri="{BB962C8B-B14F-4D97-AF65-F5344CB8AC3E}">
        <p14:creationId xmlns:p14="http://schemas.microsoft.com/office/powerpoint/2010/main" val="1614475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 XML of the 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6994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Remember there are 2 files!</a:t>
            </a:r>
          </a:p>
          <a:p>
            <a:r>
              <a:rPr lang="en-US" sz="2400" dirty="0"/>
              <a:t>One is main and one is content.</a:t>
            </a:r>
          </a:p>
          <a:p>
            <a:r>
              <a:rPr lang="en-US" sz="2400" dirty="0"/>
              <a:t>The floating  button is in the main and the rest in the content.</a:t>
            </a:r>
          </a:p>
          <a:p>
            <a:pPr marL="0" indent="0">
              <a:buNone/>
            </a:pPr>
            <a:r>
              <a:rPr lang="en-US" sz="2400" dirty="0"/>
              <a:t>In the main, change this in the floating button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98412"/>
            <a:ext cx="9144000" cy="34163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sz="24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android.support.design.widget.FloatingActionButton</a:t>
            </a:r>
            <a:b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sz="24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android:id</a:t>
            </a:r>
            <a: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="@+id/fab"</a:t>
            </a:r>
            <a:b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sz="24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android:layout_width</a:t>
            </a:r>
            <a: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="</a:t>
            </a:r>
            <a:r>
              <a:rPr lang="en-US" sz="24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wrap_content</a:t>
            </a:r>
            <a: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" </a:t>
            </a:r>
            <a:r>
              <a:rPr lang="en-US" sz="24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android:layout_height</a:t>
            </a:r>
            <a: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="</a:t>
            </a:r>
            <a:r>
              <a:rPr lang="en-US" sz="24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wrap_content</a:t>
            </a:r>
            <a: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b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sz="24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android:layout_gravity</a:t>
            </a:r>
            <a: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="</a:t>
            </a:r>
            <a:r>
              <a:rPr lang="en-US" sz="24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bottom|end</a:t>
            </a:r>
            <a: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" </a:t>
            </a:r>
            <a:r>
              <a:rPr lang="en-US" sz="24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android:layout_margin</a:t>
            </a:r>
            <a: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="@</a:t>
            </a:r>
            <a:r>
              <a:rPr lang="en-US" sz="24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dimen</a:t>
            </a:r>
            <a: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/</a:t>
            </a:r>
            <a:r>
              <a:rPr lang="en-US" sz="24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fab_margin</a:t>
            </a:r>
            <a: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b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sz="24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android:src</a:t>
            </a:r>
            <a: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="@</a:t>
            </a:r>
            <a:r>
              <a:rPr lang="en-US" sz="24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android:drawable</a:t>
            </a:r>
            <a: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/</a:t>
            </a:r>
            <a:r>
              <a:rPr lang="en-US" sz="24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ic_menu_save</a:t>
            </a:r>
            <a: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b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sz="24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app:backgroundTint</a:t>
            </a:r>
            <a: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="#</a:t>
            </a:r>
            <a:r>
              <a:rPr lang="en-US" sz="24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ffffff</a:t>
            </a:r>
            <a:r>
              <a:rPr lang="en-US" sz="24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”</a:t>
            </a:r>
            <a:r>
              <a:rPr lang="en-US" sz="24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/&gt;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5608" t="67002" r="14616" b="16338"/>
          <a:stretch/>
        </p:blipFill>
        <p:spPr>
          <a:xfrm>
            <a:off x="3782048" y="396758"/>
            <a:ext cx="5157236" cy="204619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02218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 XML of the content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9181"/>
            <a:ext cx="4737100" cy="558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5608" t="21102" r="14616" b="61144"/>
          <a:stretch/>
        </p:blipFill>
        <p:spPr>
          <a:xfrm>
            <a:off x="4357076" y="2764537"/>
            <a:ext cx="4662114" cy="197123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53937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part 2.2.A (displaying part)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Remember: we need to read values from </a:t>
            </a:r>
            <a:r>
              <a:rPr lang="en-US" dirty="0" err="1"/>
              <a:t>sharedPref</a:t>
            </a:r>
            <a:r>
              <a:rPr lang="en-US" dirty="0"/>
              <a:t> and display them.</a:t>
            </a:r>
          </a:p>
          <a:p>
            <a:r>
              <a:rPr lang="en-US" dirty="0"/>
              <a:t>Assume that we will name the </a:t>
            </a:r>
            <a:r>
              <a:rPr lang="en-US" dirty="0" err="1"/>
              <a:t>sharedpref</a:t>
            </a:r>
            <a:r>
              <a:rPr lang="en-US" dirty="0"/>
              <a:t> file “Settings”, the name of the user “</a:t>
            </a:r>
            <a:r>
              <a:rPr lang="en-US" dirty="0" err="1"/>
              <a:t>user_name</a:t>
            </a:r>
            <a:r>
              <a:rPr lang="en-US" dirty="0"/>
              <a:t>” and the switch </a:t>
            </a:r>
            <a:r>
              <a:rPr lang="en-US" dirty="0" err="1"/>
              <a:t>boolean</a:t>
            </a:r>
            <a:r>
              <a:rPr lang="en-US" dirty="0"/>
              <a:t> value as “</a:t>
            </a:r>
            <a:r>
              <a:rPr lang="en-US" dirty="0" err="1"/>
              <a:t>high_quality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577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2.2.A (solution)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43271"/>
            <a:ext cx="9144000" cy="526297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protected void </a:t>
            </a:r>
            <a:r>
              <a:rPr lang="en-US" sz="1600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onCreate</a:t>
            </a:r>
            <a:r>
              <a:rPr lang="en-US" sz="16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(Bundle </a:t>
            </a:r>
            <a:r>
              <a:rPr lang="en-US" sz="1600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savedInstanceState</a:t>
            </a:r>
            <a:r>
              <a:rPr lang="en-US" sz="16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) {</a:t>
            </a:r>
            <a:br>
              <a:rPr lang="en-US" sz="16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16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600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// … leave any code as is.</a:t>
            </a:r>
            <a:br>
              <a:rPr lang="en-US" sz="1600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16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sz="1600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// add this to make the back arrow appear on the screen</a:t>
            </a:r>
            <a:br>
              <a:rPr lang="en-US" sz="1600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1600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US" sz="16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getSupportActionBar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().</a:t>
            </a:r>
            <a:r>
              <a:rPr lang="en-US" sz="16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setDisplayHomeAsUpEnabled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(true);</a:t>
            </a:r>
            <a:b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br>
              <a:rPr lang="en-US" sz="16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16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sz="1600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// grab the elements from the layout</a:t>
            </a:r>
            <a:br>
              <a:rPr lang="en-US" sz="1600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1600" b="1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e = </a:t>
            </a:r>
            <a:r>
              <a:rPr lang="en-US" sz="16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findViewById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sz="16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R.id.</a:t>
            </a:r>
            <a:r>
              <a:rPr lang="en-US" sz="1600" b="1" i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editText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); // e is global </a:t>
            </a:r>
            <a:r>
              <a:rPr lang="en-US" sz="16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edittext</a:t>
            </a:r>
            <a:b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s = </a:t>
            </a:r>
            <a:r>
              <a:rPr lang="en-US" sz="16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findViewById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(R.id.</a:t>
            </a:r>
            <a:r>
              <a:rPr lang="en-US" sz="1600" b="1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switch1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); // s is global switch</a:t>
            </a:r>
            <a:br>
              <a:rPr lang="en-US" sz="1600" b="1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endParaRPr lang="en-US" sz="1600" b="1" i="1" dirty="0">
              <a:solidFill>
                <a:schemeClr val="bg1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1600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// grab shared </a:t>
            </a:r>
            <a:r>
              <a:rPr lang="en-US" sz="1600" i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pref</a:t>
            </a:r>
            <a:br>
              <a:rPr lang="en-US" sz="1600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1600" b="1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sz="16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SharedPreferences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display_sp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= 	</a:t>
            </a:r>
            <a:r>
              <a:rPr lang="en-US" sz="16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getSharedPreferences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("settings",</a:t>
            </a:r>
            <a:r>
              <a:rPr lang="en-US" sz="16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Context.</a:t>
            </a:r>
            <a:r>
              <a:rPr lang="en-US" sz="1600" b="1" i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MODE_PRIVATE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);</a:t>
            </a:r>
            <a:b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b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16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name = </a:t>
            </a:r>
            <a:r>
              <a:rPr lang="en-US" sz="16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display_sp.getString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("</a:t>
            </a:r>
            <a:r>
              <a:rPr lang="en-US" sz="16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user_name",null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); </a:t>
            </a:r>
          </a:p>
          <a:p>
            <a:r>
              <a:rPr lang="en-US" sz="1600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// null is default value in case </a:t>
            </a:r>
            <a:r>
              <a:rPr lang="en-US" sz="1600" i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user_name</a:t>
            </a:r>
            <a:r>
              <a:rPr lang="en-US" sz="1600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is not created yet.</a:t>
            </a:r>
            <a:br>
              <a:rPr lang="en-US" sz="1600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1600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choice = </a:t>
            </a:r>
            <a:r>
              <a:rPr lang="en-US" sz="16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display_sp.getBoolean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("</a:t>
            </a:r>
            <a:r>
              <a:rPr lang="en-US" sz="16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high_quality",false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); </a:t>
            </a:r>
          </a:p>
          <a:p>
            <a:r>
              <a:rPr lang="en-US" sz="1600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//false is default in case </a:t>
            </a:r>
            <a:r>
              <a:rPr lang="en-US" sz="1600" i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high_quality</a:t>
            </a:r>
            <a:r>
              <a:rPr lang="en-US" sz="1600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cannot be found.</a:t>
            </a:r>
            <a:br>
              <a:rPr lang="en-US" sz="1600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br>
              <a:rPr lang="en-US" sz="1600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1600" i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if </a:t>
            </a:r>
            <a:r>
              <a:rPr lang="en-US" sz="16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sz="16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!=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null</a:t>
            </a:r>
            <a:r>
              <a:rPr lang="en-US" sz="16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) { </a:t>
            </a:r>
            <a:r>
              <a:rPr lang="en-US" sz="16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e</a:t>
            </a:r>
            <a:r>
              <a:rPr lang="en-US" sz="1600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.setText</a:t>
            </a:r>
            <a:r>
              <a:rPr lang="en-US" sz="16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sz="16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);}</a:t>
            </a:r>
            <a:br>
              <a:rPr lang="en-US" sz="16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br>
              <a:rPr lang="en-US" sz="16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sz="16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s.setChecked</a:t>
            </a:r>
            <a:r>
              <a:rPr lang="en-US" sz="16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(choice);</a:t>
            </a:r>
          </a:p>
        </p:txBody>
      </p:sp>
    </p:spTree>
    <p:extLst>
      <p:ext uri="{BB962C8B-B14F-4D97-AF65-F5344CB8AC3E}">
        <p14:creationId xmlns:p14="http://schemas.microsoft.com/office/powerpoint/2010/main" val="10102104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2.2.B Programming the floating button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188" y="1152455"/>
            <a:ext cx="8229600" cy="4525963"/>
          </a:xfrm>
        </p:spPr>
        <p:txBody>
          <a:bodyPr/>
          <a:lstStyle/>
          <a:p>
            <a:r>
              <a:rPr lang="en-US" dirty="0"/>
              <a:t>Btw, we are still inside </a:t>
            </a:r>
            <a:r>
              <a:rPr lang="en-US" dirty="0" err="1"/>
              <a:t>onCreate</a:t>
            </a:r>
            <a:r>
              <a:rPr lang="en-US" dirty="0"/>
              <a:t> </a:t>
            </a:r>
            <a:r>
              <a:rPr lang="en-US" dirty="0">
                <a:sym typeface="Wingdings"/>
              </a:rPr>
              <a:t>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48018" y="2477028"/>
            <a:ext cx="857079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FloatingActionButton</a:t>
            </a:r>
            <a:r>
              <a:rPr lang="en-US" b="1" dirty="0"/>
              <a:t> fab = </a:t>
            </a:r>
            <a:r>
              <a:rPr lang="en-US" b="1" dirty="0" err="1"/>
              <a:t>findViewById</a:t>
            </a:r>
            <a:r>
              <a:rPr lang="en-US" b="1" dirty="0"/>
              <a:t>(</a:t>
            </a:r>
            <a:r>
              <a:rPr lang="en-US" b="1" dirty="0" err="1"/>
              <a:t>R.id.</a:t>
            </a:r>
            <a:r>
              <a:rPr lang="en-US" b="1" i="1" dirty="0" err="1">
                <a:solidFill>
                  <a:srgbClr val="660E7A"/>
                </a:solidFill>
              </a:rPr>
              <a:t>fab</a:t>
            </a:r>
            <a:r>
              <a:rPr lang="en-US" b="1" dirty="0"/>
              <a:t>);</a:t>
            </a:r>
            <a:br>
              <a:rPr lang="en-US" b="1" dirty="0"/>
            </a:br>
            <a:r>
              <a:rPr lang="en-US" b="1" dirty="0" err="1"/>
              <a:t>fab.setOnClickListener</a:t>
            </a:r>
            <a:r>
              <a:rPr lang="en-US" b="1" dirty="0"/>
              <a:t>(</a:t>
            </a:r>
            <a:r>
              <a:rPr lang="en-US" b="1" dirty="0">
                <a:solidFill>
                  <a:srgbClr val="000080"/>
                </a:solidFill>
              </a:rPr>
              <a:t>new </a:t>
            </a:r>
            <a:r>
              <a:rPr lang="en-US" b="1" dirty="0" err="1"/>
              <a:t>View.OnClickListener</a:t>
            </a:r>
            <a:r>
              <a:rPr lang="en-US" b="1" dirty="0"/>
              <a:t>() {</a:t>
            </a:r>
            <a:br>
              <a:rPr lang="en-US" b="1" dirty="0"/>
            </a:br>
            <a:r>
              <a:rPr lang="en-US" b="1" dirty="0"/>
              <a:t>    </a:t>
            </a:r>
            <a:r>
              <a:rPr lang="en-US" b="1" dirty="0">
                <a:solidFill>
                  <a:srgbClr val="808000"/>
                </a:solidFill>
              </a:rPr>
              <a:t>@Override</a:t>
            </a:r>
            <a:br>
              <a:rPr lang="en-US" b="1" dirty="0">
                <a:solidFill>
                  <a:srgbClr val="808000"/>
                </a:solidFill>
              </a:rPr>
            </a:br>
            <a:r>
              <a:rPr lang="en-US" b="1" dirty="0">
                <a:solidFill>
                  <a:srgbClr val="808000"/>
                </a:solidFill>
              </a:rPr>
              <a:t>    </a:t>
            </a:r>
            <a:r>
              <a:rPr lang="en-US" b="1" dirty="0">
                <a:solidFill>
                  <a:srgbClr val="000080"/>
                </a:solidFill>
              </a:rPr>
              <a:t>public void </a:t>
            </a:r>
            <a:r>
              <a:rPr lang="en-US" b="1" dirty="0" err="1"/>
              <a:t>onClick</a:t>
            </a:r>
            <a:r>
              <a:rPr lang="en-US" b="1" dirty="0"/>
              <a:t>(View view) {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        </a:t>
            </a:r>
            <a:r>
              <a:rPr lang="en-US" b="1" i="1" dirty="0">
                <a:solidFill>
                  <a:srgbClr val="808080"/>
                </a:solidFill>
              </a:rPr>
              <a:t>// open shared </a:t>
            </a:r>
            <a:r>
              <a:rPr lang="en-US" b="1" i="1" dirty="0" err="1">
                <a:solidFill>
                  <a:srgbClr val="808080"/>
                </a:solidFill>
              </a:rPr>
              <a:t>pref</a:t>
            </a:r>
            <a:br>
              <a:rPr lang="en-US" b="1" i="1" dirty="0">
                <a:solidFill>
                  <a:srgbClr val="808080"/>
                </a:solidFill>
              </a:rPr>
            </a:br>
            <a:r>
              <a:rPr lang="en-US" b="1" i="1" dirty="0">
                <a:solidFill>
                  <a:srgbClr val="808080"/>
                </a:solidFill>
              </a:rPr>
              <a:t>        </a:t>
            </a:r>
            <a:r>
              <a:rPr lang="en-US" b="1" dirty="0" err="1"/>
              <a:t>SharedPreferences</a:t>
            </a:r>
            <a:r>
              <a:rPr lang="en-US" b="1" dirty="0"/>
              <a:t> </a:t>
            </a:r>
            <a:r>
              <a:rPr lang="en-US" b="1" dirty="0" err="1"/>
              <a:t>sp</a:t>
            </a:r>
            <a:r>
              <a:rPr lang="en-US" b="1" dirty="0"/>
              <a:t> = </a:t>
            </a:r>
            <a:r>
              <a:rPr lang="en-US" b="1" dirty="0" err="1"/>
              <a:t>getSharedPreferences</a:t>
            </a:r>
            <a:r>
              <a:rPr lang="en-US" b="1" dirty="0"/>
              <a:t>(</a:t>
            </a:r>
            <a:r>
              <a:rPr lang="en-US" b="1" dirty="0">
                <a:solidFill>
                  <a:srgbClr val="008000"/>
                </a:solidFill>
              </a:rPr>
              <a:t>"settings"</a:t>
            </a:r>
            <a:r>
              <a:rPr lang="en-US" b="1" dirty="0"/>
              <a:t>, </a:t>
            </a:r>
            <a:r>
              <a:rPr lang="en-US" b="1" dirty="0" err="1"/>
              <a:t>Context.</a:t>
            </a:r>
            <a:r>
              <a:rPr lang="en-US" b="1" i="1" dirty="0" err="1">
                <a:solidFill>
                  <a:srgbClr val="660E7A"/>
                </a:solidFill>
              </a:rPr>
              <a:t>MODE_PRIVATE</a:t>
            </a:r>
            <a:r>
              <a:rPr lang="en-US" b="1" dirty="0"/>
              <a:t>);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        </a:t>
            </a:r>
            <a:r>
              <a:rPr lang="en-US" b="1" i="1" dirty="0">
                <a:solidFill>
                  <a:srgbClr val="808080"/>
                </a:solidFill>
              </a:rPr>
              <a:t>// read values from user</a:t>
            </a:r>
            <a:br>
              <a:rPr lang="en-US" b="1" i="1" dirty="0">
                <a:solidFill>
                  <a:srgbClr val="808080"/>
                </a:solidFill>
              </a:rPr>
            </a:br>
            <a:r>
              <a:rPr lang="en-US" b="1" i="1" dirty="0">
                <a:solidFill>
                  <a:srgbClr val="808080"/>
                </a:solidFill>
              </a:rPr>
              <a:t>        </a:t>
            </a:r>
            <a:r>
              <a:rPr lang="en-US" b="1" dirty="0">
                <a:solidFill>
                  <a:srgbClr val="660E7A"/>
                </a:solidFill>
              </a:rPr>
              <a:t>name </a:t>
            </a:r>
            <a:r>
              <a:rPr lang="en-US" b="1" dirty="0"/>
              <a:t>= </a:t>
            </a:r>
            <a:r>
              <a:rPr lang="en-US" b="1" dirty="0" err="1">
                <a:solidFill>
                  <a:srgbClr val="660E7A"/>
                </a:solidFill>
              </a:rPr>
              <a:t>e</a:t>
            </a:r>
            <a:r>
              <a:rPr lang="en-US" b="1" dirty="0" err="1"/>
              <a:t>.getText</a:t>
            </a:r>
            <a:r>
              <a:rPr lang="en-US" b="1" dirty="0"/>
              <a:t>().</a:t>
            </a:r>
            <a:r>
              <a:rPr lang="en-US" b="1" dirty="0" err="1"/>
              <a:t>toString</a:t>
            </a:r>
            <a:r>
              <a:rPr lang="en-US" b="1" dirty="0"/>
              <a:t>();</a:t>
            </a:r>
            <a:br>
              <a:rPr lang="en-US" b="1" dirty="0"/>
            </a:br>
            <a:r>
              <a:rPr lang="en-US" b="1" dirty="0"/>
              <a:t>        </a:t>
            </a:r>
            <a:r>
              <a:rPr lang="en-US" b="1" dirty="0">
                <a:solidFill>
                  <a:srgbClr val="660E7A"/>
                </a:solidFill>
              </a:rPr>
              <a:t>choice </a:t>
            </a:r>
            <a:r>
              <a:rPr lang="en-US" b="1" dirty="0"/>
              <a:t>= </a:t>
            </a:r>
            <a:r>
              <a:rPr lang="en-US" b="1" dirty="0" err="1">
                <a:solidFill>
                  <a:srgbClr val="660E7A"/>
                </a:solidFill>
              </a:rPr>
              <a:t>s</a:t>
            </a:r>
            <a:r>
              <a:rPr lang="en-US" b="1" dirty="0" err="1"/>
              <a:t>.isChecked</a:t>
            </a:r>
            <a:r>
              <a:rPr lang="en-US" b="1" dirty="0"/>
              <a:t>();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4449170" y="4790364"/>
            <a:ext cx="436729" cy="6687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5491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2.2.B Programming the floating button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188" y="1152455"/>
            <a:ext cx="8229600" cy="4525963"/>
          </a:xfrm>
        </p:spPr>
        <p:txBody>
          <a:bodyPr/>
          <a:lstStyle/>
          <a:p>
            <a:r>
              <a:rPr lang="en-US" dirty="0"/>
              <a:t>Continuing: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743105"/>
            <a:ext cx="9144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b="1" dirty="0"/>
            </a:br>
            <a:r>
              <a:rPr lang="en-US" b="1" dirty="0"/>
              <a:t>            </a:t>
            </a:r>
            <a:r>
              <a:rPr lang="en-US" b="1" i="1" dirty="0">
                <a:solidFill>
                  <a:srgbClr val="808080"/>
                </a:solidFill>
              </a:rPr>
              <a:t>// create editor</a:t>
            </a:r>
            <a:br>
              <a:rPr lang="en-US" b="1" i="1" dirty="0">
                <a:solidFill>
                  <a:srgbClr val="808080"/>
                </a:solidFill>
              </a:rPr>
            </a:br>
            <a:r>
              <a:rPr lang="en-US" b="1" i="1" dirty="0">
                <a:solidFill>
                  <a:srgbClr val="808080"/>
                </a:solidFill>
              </a:rPr>
              <a:t>            </a:t>
            </a:r>
            <a:r>
              <a:rPr lang="en-US" b="1" dirty="0" err="1"/>
              <a:t>SharedPreferences.Editor</a:t>
            </a:r>
            <a:r>
              <a:rPr lang="en-US" b="1" dirty="0"/>
              <a:t> </a:t>
            </a:r>
            <a:r>
              <a:rPr lang="en-US" b="1" dirty="0" err="1"/>
              <a:t>myEditor</a:t>
            </a:r>
            <a:r>
              <a:rPr lang="en-US" b="1" dirty="0"/>
              <a:t> = </a:t>
            </a:r>
            <a:r>
              <a:rPr lang="en-US" b="1" dirty="0" err="1"/>
              <a:t>sp.edit</a:t>
            </a:r>
            <a:r>
              <a:rPr lang="en-US" b="1" dirty="0"/>
              <a:t>();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            </a:t>
            </a:r>
            <a:r>
              <a:rPr lang="en-US" b="1" i="1" dirty="0">
                <a:solidFill>
                  <a:srgbClr val="808080"/>
                </a:solidFill>
              </a:rPr>
              <a:t>// save values</a:t>
            </a:r>
            <a:br>
              <a:rPr lang="en-US" b="1" i="1" dirty="0">
                <a:solidFill>
                  <a:srgbClr val="808080"/>
                </a:solidFill>
              </a:rPr>
            </a:br>
            <a:r>
              <a:rPr lang="en-US" b="1" i="1" dirty="0">
                <a:solidFill>
                  <a:srgbClr val="808080"/>
                </a:solidFill>
              </a:rPr>
              <a:t>            </a:t>
            </a:r>
            <a:r>
              <a:rPr lang="en-US" b="1" dirty="0" err="1"/>
              <a:t>myEditor.putBoolean</a:t>
            </a:r>
            <a:r>
              <a:rPr lang="en-US" b="1" dirty="0"/>
              <a:t>(</a:t>
            </a:r>
            <a:r>
              <a:rPr lang="en-US" b="1" dirty="0">
                <a:solidFill>
                  <a:srgbClr val="008000"/>
                </a:solidFill>
              </a:rPr>
              <a:t>"</a:t>
            </a:r>
            <a:r>
              <a:rPr lang="en-US" b="1" dirty="0" err="1">
                <a:solidFill>
                  <a:srgbClr val="008000"/>
                </a:solidFill>
              </a:rPr>
              <a:t>high_quality"</a:t>
            </a:r>
            <a:r>
              <a:rPr lang="en-US" b="1" dirty="0" err="1"/>
              <a:t>,</a:t>
            </a:r>
            <a:r>
              <a:rPr lang="en-US" b="1" dirty="0" err="1">
                <a:solidFill>
                  <a:srgbClr val="660E7A"/>
                </a:solidFill>
              </a:rPr>
              <a:t>choice</a:t>
            </a:r>
            <a:r>
              <a:rPr lang="en-US" b="1" dirty="0"/>
              <a:t>);</a:t>
            </a:r>
            <a:br>
              <a:rPr lang="en-US" b="1" dirty="0"/>
            </a:br>
            <a:r>
              <a:rPr lang="en-US" b="1" dirty="0"/>
              <a:t>            </a:t>
            </a:r>
            <a:r>
              <a:rPr lang="en-US" b="1" dirty="0" err="1"/>
              <a:t>myEditor.putString</a:t>
            </a:r>
            <a:r>
              <a:rPr lang="en-US" b="1" dirty="0"/>
              <a:t>(</a:t>
            </a:r>
            <a:r>
              <a:rPr lang="en-US" b="1" dirty="0">
                <a:solidFill>
                  <a:srgbClr val="008000"/>
                </a:solidFill>
              </a:rPr>
              <a:t>"</a:t>
            </a:r>
            <a:r>
              <a:rPr lang="en-US" b="1" dirty="0" err="1">
                <a:solidFill>
                  <a:srgbClr val="008000"/>
                </a:solidFill>
              </a:rPr>
              <a:t>user_name"</a:t>
            </a:r>
            <a:r>
              <a:rPr lang="en-US" b="1" dirty="0" err="1"/>
              <a:t>,</a:t>
            </a:r>
            <a:r>
              <a:rPr lang="en-US" b="1" dirty="0" err="1">
                <a:solidFill>
                  <a:srgbClr val="660E7A"/>
                </a:solidFill>
              </a:rPr>
              <a:t>name</a:t>
            </a:r>
            <a:r>
              <a:rPr lang="en-US" b="1" dirty="0"/>
              <a:t>);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            </a:t>
            </a:r>
            <a:r>
              <a:rPr lang="en-US" b="1" i="1" dirty="0">
                <a:solidFill>
                  <a:srgbClr val="808080"/>
                </a:solidFill>
              </a:rPr>
              <a:t>// commit</a:t>
            </a:r>
            <a:br>
              <a:rPr lang="en-US" b="1" i="1" dirty="0">
                <a:solidFill>
                  <a:srgbClr val="808080"/>
                </a:solidFill>
              </a:rPr>
            </a:br>
            <a:r>
              <a:rPr lang="en-US" b="1" i="1" dirty="0">
                <a:solidFill>
                  <a:srgbClr val="808080"/>
                </a:solidFill>
              </a:rPr>
              <a:t>            </a:t>
            </a:r>
            <a:r>
              <a:rPr lang="en-US" b="1" dirty="0" err="1"/>
              <a:t>myEditor.commit</a:t>
            </a:r>
            <a:r>
              <a:rPr lang="en-US" b="1" dirty="0"/>
              <a:t>();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            </a:t>
            </a:r>
            <a:r>
              <a:rPr lang="en-US" b="1" i="1" dirty="0">
                <a:solidFill>
                  <a:srgbClr val="808080"/>
                </a:solidFill>
              </a:rPr>
              <a:t>// show </a:t>
            </a:r>
            <a:r>
              <a:rPr lang="en-US" b="1" i="1" dirty="0" err="1">
                <a:solidFill>
                  <a:srgbClr val="808080"/>
                </a:solidFill>
              </a:rPr>
              <a:t>snackbar</a:t>
            </a:r>
            <a:r>
              <a:rPr lang="en-US" b="1" i="1" dirty="0">
                <a:solidFill>
                  <a:srgbClr val="808080"/>
                </a:solidFill>
              </a:rPr>
              <a:t> to tell user everything is saved.</a:t>
            </a:r>
            <a:br>
              <a:rPr lang="en-US" b="1" i="1" dirty="0">
                <a:solidFill>
                  <a:srgbClr val="808080"/>
                </a:solidFill>
              </a:rPr>
            </a:br>
            <a:br>
              <a:rPr lang="en-US" b="1" i="1" dirty="0">
                <a:solidFill>
                  <a:srgbClr val="808080"/>
                </a:solidFill>
              </a:rPr>
            </a:br>
            <a:r>
              <a:rPr lang="en-US" b="1" i="1" dirty="0">
                <a:solidFill>
                  <a:srgbClr val="808080"/>
                </a:solidFill>
              </a:rPr>
              <a:t>            </a:t>
            </a:r>
            <a:r>
              <a:rPr lang="en-US" b="1" dirty="0" err="1"/>
              <a:t>Snackbar.</a:t>
            </a:r>
            <a:r>
              <a:rPr lang="en-US" b="1" i="1" dirty="0" err="1"/>
              <a:t>make</a:t>
            </a:r>
            <a:r>
              <a:rPr lang="en-US" b="1" dirty="0"/>
              <a:t>(view, </a:t>
            </a:r>
            <a:r>
              <a:rPr lang="en-US" b="1" dirty="0">
                <a:solidFill>
                  <a:srgbClr val="008000"/>
                </a:solidFill>
              </a:rPr>
              <a:t>"Save Successful"</a:t>
            </a:r>
            <a:r>
              <a:rPr lang="en-US" b="1" dirty="0"/>
              <a:t>, </a:t>
            </a:r>
            <a:r>
              <a:rPr lang="en-US" b="1" dirty="0" err="1"/>
              <a:t>Snackbar.</a:t>
            </a:r>
            <a:r>
              <a:rPr lang="en-US" b="1" i="1" dirty="0" err="1">
                <a:solidFill>
                  <a:srgbClr val="660E7A"/>
                </a:solidFill>
              </a:rPr>
              <a:t>LENGTH_LONG</a:t>
            </a:r>
            <a:r>
              <a:rPr lang="en-US" b="1"/>
              <a:t>).show</a:t>
            </a:r>
            <a:r>
              <a:rPr lang="en-US" b="1" dirty="0"/>
              <a:t>();</a:t>
            </a:r>
            <a:br>
              <a:rPr lang="en-US" b="1" dirty="0"/>
            </a:br>
            <a:r>
              <a:rPr lang="en-US" b="1" dirty="0"/>
              <a:t>        }</a:t>
            </a:r>
            <a:br>
              <a:rPr lang="en-US" b="1" dirty="0"/>
            </a:br>
            <a:r>
              <a:rPr lang="en-US" b="1" dirty="0"/>
              <a:t>    });</a:t>
            </a:r>
            <a:br>
              <a:rPr lang="en-US" b="1" dirty="0"/>
            </a:br>
            <a:r>
              <a:rPr lang="en-US" b="1" dirty="0"/>
              <a:t>} // on create ends here</a:t>
            </a:r>
          </a:p>
        </p:txBody>
      </p:sp>
    </p:spTree>
    <p:extLst>
      <p:ext uri="{BB962C8B-B14F-4D97-AF65-F5344CB8AC3E}">
        <p14:creationId xmlns:p14="http://schemas.microsoft.com/office/powerpoint/2010/main" val="8667560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session </a:t>
            </a:r>
            <a:r>
              <a:rPr lang="en-US" dirty="0" err="1"/>
              <a:t>SharedPref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892735" y="1955564"/>
            <a:ext cx="3096758" cy="4842933"/>
          </a:xfrm>
          <a:prstGeom prst="roundRect">
            <a:avLst>
              <a:gd name="adj" fmla="val 4090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5007535" y="2015067"/>
            <a:ext cx="3096758" cy="4842933"/>
          </a:xfrm>
          <a:prstGeom prst="roundRect">
            <a:avLst>
              <a:gd name="adj" fmla="val 4090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892735" y="1955564"/>
            <a:ext cx="3096758" cy="458188"/>
          </a:xfrm>
          <a:prstGeom prst="roundRect">
            <a:avLst>
              <a:gd name="adj" fmla="val 4090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007535" y="1955564"/>
            <a:ext cx="3096758" cy="458188"/>
          </a:xfrm>
          <a:prstGeom prst="roundRect">
            <a:avLst>
              <a:gd name="adj" fmla="val 4090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076614" y="1999992"/>
            <a:ext cx="912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5411" y="1973486"/>
            <a:ext cx="598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save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18050" y="2925428"/>
            <a:ext cx="2246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John Smith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668" y="5511564"/>
            <a:ext cx="2046892" cy="458188"/>
          </a:xfrm>
          <a:prstGeom prst="roundRect">
            <a:avLst>
              <a:gd name="adj" fmla="val 4090"/>
            </a:avLst>
          </a:prstGeom>
          <a:solidFill>
            <a:schemeClr val="tx1">
              <a:lumMod val="65000"/>
              <a:lumOff val="35000"/>
              <a:alpha val="54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You choice is 0</a:t>
            </a:r>
          </a:p>
        </p:txBody>
      </p:sp>
      <p:sp>
        <p:nvSpPr>
          <p:cNvPr id="12" name="Oval 11"/>
          <p:cNvSpPr/>
          <p:nvPr/>
        </p:nvSpPr>
        <p:spPr>
          <a:xfrm>
            <a:off x="5428826" y="2788268"/>
            <a:ext cx="274320" cy="27432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428826" y="3248593"/>
            <a:ext cx="274320" cy="27432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5259493" y="4377030"/>
            <a:ext cx="254535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259493" y="4008725"/>
            <a:ext cx="10871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John smith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9054" y="275615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9054" y="321316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5464818" y="2831700"/>
            <a:ext cx="182880" cy="18288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>
            <a:stCxn id="8" idx="3"/>
          </p:cNvCxnSpPr>
          <p:nvPr/>
        </p:nvCxnSpPr>
        <p:spPr>
          <a:xfrm>
            <a:off x="3989493" y="2184658"/>
            <a:ext cx="833967" cy="119778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9" idx="0"/>
            <a:endCxn id="6" idx="0"/>
          </p:cNvCxnSpPr>
          <p:nvPr/>
        </p:nvCxnSpPr>
        <p:spPr>
          <a:xfrm rot="16200000" flipV="1">
            <a:off x="5114022" y="-717344"/>
            <a:ext cx="17922" cy="5363738"/>
          </a:xfrm>
          <a:prstGeom prst="bentConnector3">
            <a:avLst>
              <a:gd name="adj1" fmla="val 3033713"/>
            </a:avLst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1942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18144</TotalTime>
  <Words>1851</Words>
  <Application>Microsoft Office PowerPoint</Application>
  <PresentationFormat>On-screen Show (4:3)</PresentationFormat>
  <Paragraphs>145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Arial Rounded MT Bold</vt:lpstr>
      <vt:lpstr>Calibri</vt:lpstr>
      <vt:lpstr>Corbel</vt:lpstr>
      <vt:lpstr>Courier</vt:lpstr>
      <vt:lpstr>Courier New</vt:lpstr>
      <vt:lpstr>Wingdings</vt:lpstr>
      <vt:lpstr>Office Theme</vt:lpstr>
      <vt:lpstr>PowerPoint Presentation</vt:lpstr>
      <vt:lpstr>Saving Data</vt:lpstr>
      <vt:lpstr>PowerPoint Presentation</vt:lpstr>
      <vt:lpstr>SharedPreferences</vt:lpstr>
      <vt:lpstr>sharedPreferences (example)</vt:lpstr>
      <vt:lpstr>Creating and accessing </vt:lpstr>
      <vt:lpstr>Examples</vt:lpstr>
      <vt:lpstr>How to write to sharedPreferences?</vt:lpstr>
      <vt:lpstr>Writing to sharedPreferences Example</vt:lpstr>
      <vt:lpstr>Read from SharedPreferences</vt:lpstr>
      <vt:lpstr>Example</vt:lpstr>
      <vt:lpstr>Accessing the sharedpreference file from different activities.</vt:lpstr>
      <vt:lpstr>Lab session</vt:lpstr>
      <vt:lpstr>Exercise</vt:lpstr>
      <vt:lpstr>Exercise</vt:lpstr>
      <vt:lpstr>Exercise continues</vt:lpstr>
      <vt:lpstr>solution</vt:lpstr>
      <vt:lpstr>PART 1.1 solution</vt:lpstr>
      <vt:lpstr>Part 1.2 solution</vt:lpstr>
      <vt:lpstr>PowerPoint Presentation</vt:lpstr>
      <vt:lpstr>Part 2: the Settings Activity</vt:lpstr>
      <vt:lpstr>2.1 XML of the main</vt:lpstr>
      <vt:lpstr>2.1 XML of the content</vt:lpstr>
      <vt:lpstr>JAVA part 2.2.A (displaying part)</vt:lpstr>
      <vt:lpstr>2.2.A (solution)</vt:lpstr>
      <vt:lpstr>2.2.B Programming the floating button</vt:lpstr>
      <vt:lpstr>2.2.B Programming the floating button</vt:lpstr>
      <vt:lpstr>Lab session SharedPref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Ibrahim EL BITAR</dc:creator>
  <cp:lastModifiedBy>Ibrahim Bitar (El)</cp:lastModifiedBy>
  <cp:revision>229</cp:revision>
  <dcterms:created xsi:type="dcterms:W3CDTF">2014-09-15T15:07:55Z</dcterms:created>
  <dcterms:modified xsi:type="dcterms:W3CDTF">2024-11-01T06:07:18Z</dcterms:modified>
</cp:coreProperties>
</file>